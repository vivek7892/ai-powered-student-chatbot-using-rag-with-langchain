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7" r:id="rId2"/>
    <p:sldId id="279" r:id="rId3"/>
    <p:sldId id="282" r:id="rId4"/>
    <p:sldId id="298" r:id="rId5"/>
    <p:sldId id="286" r:id="rId6"/>
    <p:sldId id="287" r:id="rId7"/>
    <p:sldId id="288" r:id="rId8"/>
    <p:sldId id="289" r:id="rId9"/>
    <p:sldId id="291" r:id="rId10"/>
    <p:sldId id="283" r:id="rId11"/>
    <p:sldId id="297" r:id="rId12"/>
    <p:sldId id="296" r:id="rId13"/>
    <p:sldId id="294" r:id="rId14"/>
    <p:sldId id="295" r:id="rId15"/>
    <p:sldId id="292" r:id="rId16"/>
    <p:sldId id="276" r:id="rId17"/>
    <p:sldId id="299" r:id="rId24"/>
    <p:sldId id="30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E030B8C8-4035-469A-A325-7A80AE675A50}">
          <p14:sldIdLst>
            <p14:sldId id="257"/>
            <p14:sldId id="279"/>
            <p14:sldId id="282"/>
            <p14:sldId id="298"/>
            <p14:sldId id="286"/>
            <p14:sldId id="287"/>
            <p14:sldId id="288"/>
            <p14:sldId id="289"/>
            <p14:sldId id="291"/>
            <p14:sldId id="283"/>
            <p14:sldId id="297"/>
            <p14:sldId id="296"/>
            <p14:sldId id="294"/>
            <p14:sldId id="295"/>
            <p14:sldId id="292"/>
            <p14:sldId id="27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826" autoAdjust="0"/>
  </p:normalViewPr>
  <p:slideViewPr>
    <p:cSldViewPr snapToGrid="0">
      <p:cViewPr varScale="1">
        <p:scale>
          <a:sx n="91" d="100"/>
          <a:sy n="91" d="100"/>
        </p:scale>
        <p:origin x="370" y="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 Type="http://schemas.openxmlformats.org/officeDocument/2006/relationships/slide" Target="slides/slide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1E8100-6EAF-2598-7C62-6055ACB6108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3DA0D27-C089-1AC9-45DD-CE3A19FFA1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86B565-13A3-47E1-83CD-B63EAE4B38A5}" type="datetimeFigureOut">
              <a:rPr lang="en-US" smtClean="0"/>
              <a:t>9/13/2025</a:t>
            </a:fld>
            <a:endParaRPr lang="en-US"/>
          </a:p>
        </p:txBody>
      </p:sp>
      <p:sp>
        <p:nvSpPr>
          <p:cNvPr id="4" name="Footer Placeholder 3">
            <a:extLst>
              <a:ext uri="{FF2B5EF4-FFF2-40B4-BE49-F238E27FC236}">
                <a16:creationId xmlns:a16="http://schemas.microsoft.com/office/drawing/2014/main" id="{A01FAB24-E29B-641E-0826-2AFDACB891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C441B77-6ADE-B19A-FF79-119C376C29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A5888A-2C25-4B9E-A8B4-92B81C03B3E6}" type="slidenum">
              <a:rPr lang="en-US" smtClean="0"/>
              <a:t>‹#›</a:t>
            </a:fld>
            <a:endParaRPr lang="en-US"/>
          </a:p>
        </p:txBody>
      </p:sp>
    </p:spTree>
    <p:extLst>
      <p:ext uri="{BB962C8B-B14F-4D97-AF65-F5344CB8AC3E}">
        <p14:creationId xmlns:p14="http://schemas.microsoft.com/office/powerpoint/2010/main" val="138014003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B2898F-A40F-44F9-AA99-8A06F11866EC}" type="datetimeFigureOut">
              <a:rPr lang="en-US" smtClean="0"/>
              <a:t>9/13/2025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D9E14-8850-4DEA-8D0A-1B90617D357C}" type="slidenum">
              <a:rPr lang="en-US" smtClean="0"/>
              <a:t>‹#›</a:t>
            </a:fld>
            <a:endParaRPr lang="en-US"/>
          </a:p>
        </p:txBody>
      </p:sp>
    </p:spTree>
    <p:extLst>
      <p:ext uri="{BB962C8B-B14F-4D97-AF65-F5344CB8AC3E}">
        <p14:creationId xmlns:p14="http://schemas.microsoft.com/office/powerpoint/2010/main" val="413965799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25A6ABA-A394-4D7E-893F-84B574F053DA}"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3196064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92B472-5239-4E7B-BEB1-05AEED59BF7B}"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1406379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C971FF3-35D8-446C-919B-AED3AB0D4E06}"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130189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81B8019-E6A0-4114-8CEE-91DE3A992151}" type="datetime1">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2496813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AC2A2-DF63-44A9-8970-9A6C0E481C2C}" type="datetime1">
              <a:rPr lang="en-US" smtClean="0"/>
              <a:t>9/13/2025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1275867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1EC630-ADF8-4263-A4E6-C2B37A9D3E0F}" type="datetime1">
              <a:rPr lang="en-US" smtClean="0"/>
              <a:t>9/13/2025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731128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C5A0FF-DB9A-4716-8257-2F53B55635F0}" type="datetime1">
              <a:rPr lang="en-US" smtClean="0"/>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3014368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342AF4-AE1A-4E01-B5D7-4B3369830A72}" type="datetime1">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338015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097B17-4BEE-4915-8E3D-164E379AC54F}" type="datetime1">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243055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651569-36FF-4146-8C91-343D8CF3ADD0}"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2868936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1DB611-5888-4142-A650-5CF41AF62B6E}" type="datetime1">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4BF2A-6908-48BA-BCA3-64D3A550E74C}" type="slidenum">
              <a:rPr lang="en-US" smtClean="0"/>
              <a:t>‹#›</a:t>
            </a:fld>
            <a:endParaRPr lang="en-US"/>
          </a:p>
        </p:txBody>
      </p:sp>
    </p:spTree>
    <p:extLst>
      <p:ext uri="{BB962C8B-B14F-4D97-AF65-F5344CB8AC3E}">
        <p14:creationId xmlns:p14="http://schemas.microsoft.com/office/powerpoint/2010/main" val="29683819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64BEF3-A6EA-474E-8883-3990D41E7627}" type="datetime1">
              <a:rPr lang="en-US" smtClean="0"/>
              <a:t>9/13/2025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B4BF2A-6908-48BA-BCA3-64D3A550E74C}" type="slidenum">
              <a:rPr lang="en-US" smtClean="0"/>
              <a:t>‹#›</a:t>
            </a:fld>
            <a:endParaRPr lang="en-US"/>
          </a:p>
        </p:txBody>
      </p:sp>
    </p:spTree>
    <p:extLst>
      <p:ext uri="{BB962C8B-B14F-4D97-AF65-F5344CB8AC3E}">
        <p14:creationId xmlns:p14="http://schemas.microsoft.com/office/powerpoint/2010/main" val="3183143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sp>
        <p:nvSpPr>
          <p:cNvPr id="18" name="Rectangle 150"/>
          <p:cNvSpPr>
            <a:spLocks noGrp="1" noChangeArrowheads="1"/>
          </p:cNvSpPr>
          <p:nvPr>
            <p:ph type="ctrTitle"/>
          </p:nvPr>
        </p:nvSpPr>
        <p:spPr>
          <a:xfrm>
            <a:off x="1208345" y="3085786"/>
            <a:ext cx="3781569" cy="2867362"/>
          </a:xfrm>
        </p:spPr>
        <p:txBody>
          <a:bodyPr anchor="ctr">
            <a:noAutofit/>
          </a:bodyPr>
          <a:lstStyle/>
          <a:p>
            <a:pPr algn="l" eaLnBrk="1" hangingPunct="1">
              <a:lnSpc>
                <a:spcPct val="150000"/>
              </a:lnSpc>
            </a:pPr>
            <a:br>
              <a:rPr lang="es-ES" altLang="en-US" sz="2000" b="1" dirty="0">
                <a:latin typeface="Times New Roman" pitchFamily="18" charset="0"/>
                <a:cs typeface="Times New Roman" pitchFamily="18" charset="0"/>
              </a:rPr>
            </a:br>
            <a:r>
              <a:rPr lang="es-ES" altLang="en-US" sz="2000" b="1" dirty="0">
                <a:latin typeface="Times New Roman" pitchFamily="18" charset="0"/>
                <a:cs typeface="Times New Roman" pitchFamily="18" charset="0"/>
              </a:rPr>
              <a:t>     </a:t>
            </a:r>
            <a:r>
              <a:rPr lang="es-ES" altLang="en-US" sz="2000" b="1" dirty="0">
                <a:solidFill>
                  <a:srgbClr val="7030A0"/>
                </a:solidFill>
                <a:latin typeface="Times New Roman" pitchFamily="18" charset="0"/>
                <a:cs typeface="Times New Roman" pitchFamily="18" charset="0"/>
              </a:rPr>
              <a:t>Presented By,</a:t>
            </a:r>
            <a:br>
              <a:rPr lang="es-ES" altLang="en-US" sz="2000" b="1" dirty="0">
                <a:latin typeface="Times New Roman" pitchFamily="18" charset="0"/>
                <a:cs typeface="Times New Roman" pitchFamily="18" charset="0"/>
              </a:rPr>
            </a:br>
            <a:r>
              <a:rPr lang="es-ES" altLang="en-US" sz="2000" b="1" dirty="0">
                <a:latin typeface="Times New Roman" pitchFamily="18" charset="0"/>
                <a:cs typeface="Times New Roman" pitchFamily="18" charset="0"/>
              </a:rPr>
              <a:t>     Dharshan S [4AD22CD013]</a:t>
            </a:r>
            <a:br>
              <a:rPr lang="es-ES" altLang="en-US" sz="2000" b="1" dirty="0">
                <a:latin typeface="Times New Roman" pitchFamily="18" charset="0"/>
                <a:cs typeface="Times New Roman" pitchFamily="18" charset="0"/>
              </a:rPr>
            </a:br>
            <a:r>
              <a:rPr lang="es-ES" altLang="en-US" sz="2000" b="1" dirty="0">
                <a:latin typeface="Times New Roman" pitchFamily="18" charset="0"/>
                <a:cs typeface="Times New Roman" pitchFamily="18" charset="0"/>
              </a:rPr>
              <a:t>     Puneeth K S [4AD22CD035]</a:t>
            </a:r>
            <a:br>
              <a:rPr lang="es-ES" altLang="en-US" sz="2000" b="1" dirty="0">
                <a:latin typeface="Times New Roman" pitchFamily="18" charset="0"/>
                <a:cs typeface="Times New Roman" pitchFamily="18" charset="0"/>
              </a:rPr>
            </a:br>
            <a:r>
              <a:rPr lang="es-ES" altLang="en-US" sz="2000" b="1" dirty="0">
                <a:latin typeface="Times New Roman" pitchFamily="18" charset="0"/>
                <a:cs typeface="Times New Roman" pitchFamily="18" charset="0"/>
              </a:rPr>
              <a:t>     Sanjay G J [4AD22CD042]                                                         </a:t>
            </a:r>
            <a:br>
              <a:rPr lang="es-ES" altLang="en-US" sz="2000" b="1" dirty="0">
                <a:latin typeface="Times New Roman" pitchFamily="18" charset="0"/>
                <a:cs typeface="Times New Roman" pitchFamily="18" charset="0"/>
              </a:rPr>
            </a:br>
            <a:r>
              <a:rPr lang="es-ES" altLang="en-US" sz="2000" b="1" dirty="0">
                <a:latin typeface="Times New Roman" pitchFamily="18" charset="0"/>
                <a:cs typeface="Times New Roman" pitchFamily="18" charset="0"/>
              </a:rPr>
              <a:t>     Vivek V [4AD22CD057] </a:t>
            </a:r>
            <a:br>
              <a:rPr lang="es-ES" altLang="en-US" sz="2000" b="1" dirty="0">
                <a:latin typeface="Times New Roman" pitchFamily="18" charset="0"/>
                <a:cs typeface="Times New Roman" pitchFamily="18" charset="0"/>
              </a:rPr>
            </a:br>
            <a:r>
              <a:rPr lang="es-ES" altLang="en-US" sz="2000" b="1" dirty="0">
                <a:latin typeface="Times New Roman" pitchFamily="18" charset="0"/>
                <a:cs typeface="Times New Roman" pitchFamily="18" charset="0"/>
              </a:rPr>
              <a:t>                                                                                                             </a:t>
            </a:r>
          </a:p>
        </p:txBody>
      </p:sp>
      <p:pic>
        <p:nvPicPr>
          <p:cNvPr id="4" name="Picture 3">
            <a:extLst>
              <a:ext uri="{FF2B5EF4-FFF2-40B4-BE49-F238E27FC236}">
                <a16:creationId xmlns:a16="http://schemas.microsoft.com/office/drawing/2014/main" id="{2EA5AE61-A35F-E300-D384-2967B16B89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6222B1FB-1297-A354-C3DF-8C790699FC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4799052-7028-1ADD-6D6E-6AA46F9C0DB4}"/>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DD2BEF2-AE53-9187-8B15-A47B9358FB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5DCF40A-F68A-F9B3-6803-38B4B89E037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p:cNvPicPr>
            <a:picLocks noChangeAspect="1"/>
          </p:cNvPicPr>
          <p:nvPr/>
        </p:nvPicPr>
        <p:blipFill>
          <a:blip r:embed="rId6"/>
          <a:stretch>
            <a:fillRect/>
          </a:stretch>
        </p:blipFill>
        <p:spPr>
          <a:xfrm>
            <a:off x="10902152" y="81675"/>
            <a:ext cx="1078152" cy="886089"/>
          </a:xfrm>
          <a:prstGeom prst="rect">
            <a:avLst/>
          </a:prstGeom>
        </p:spPr>
      </p:pic>
      <p:sp>
        <p:nvSpPr>
          <p:cNvPr id="3" name="TextBox 2">
            <a:extLst>
              <a:ext uri="{FF2B5EF4-FFF2-40B4-BE49-F238E27FC236}">
                <a16:creationId xmlns:a16="http://schemas.microsoft.com/office/drawing/2014/main" id="{15AD6381-53B0-18B7-7D3A-29F592DD0E30}"/>
              </a:ext>
            </a:extLst>
          </p:cNvPr>
          <p:cNvSpPr txBox="1"/>
          <p:nvPr/>
        </p:nvSpPr>
        <p:spPr>
          <a:xfrm>
            <a:off x="6588937" y="3085786"/>
            <a:ext cx="4394718" cy="2345322"/>
          </a:xfrm>
          <a:prstGeom prst="rect">
            <a:avLst/>
          </a:prstGeom>
          <a:noFill/>
        </p:spPr>
        <p:txBody>
          <a:bodyPr wrap="square" rtlCol="0">
            <a:spAutoFit/>
          </a:bodyPr>
          <a:lstStyle/>
          <a:p>
            <a:pPr>
              <a:lnSpc>
                <a:spcPct val="150000"/>
              </a:lnSpc>
            </a:pPr>
            <a:endParaRPr lang="en-US" sz="2000" b="1" dirty="0">
              <a:solidFill>
                <a:srgbClr val="7030A0"/>
              </a:solidFill>
              <a:latin typeface="Times New Roman" panose="02020603050405020304" pitchFamily="18" charset="0"/>
              <a:cs typeface="Times New Roman" panose="02020603050405020304" pitchFamily="18" charset="0"/>
            </a:endParaRPr>
          </a:p>
          <a:p>
            <a:pPr>
              <a:lnSpc>
                <a:spcPct val="150000"/>
              </a:lnSpc>
            </a:pPr>
            <a:r>
              <a:rPr lang="en-US" sz="2000" b="1" dirty="0">
                <a:solidFill>
                  <a:srgbClr val="7030A0"/>
                </a:solidFill>
                <a:latin typeface="Times New Roman" panose="02020603050405020304" pitchFamily="18" charset="0"/>
                <a:cs typeface="Times New Roman" panose="02020603050405020304" pitchFamily="18" charset="0"/>
              </a:rPr>
              <a:t>                Under the guidance of,</a:t>
            </a:r>
          </a:p>
          <a:p>
            <a:pPr>
              <a:lnSpc>
                <a:spcPct val="150000"/>
              </a:lnSpc>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Dr</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Anitha</a:t>
            </a:r>
            <a:r>
              <a:rPr lang="en-US" sz="2000" b="1" dirty="0">
                <a:latin typeface="Times New Roman" panose="02020603050405020304" pitchFamily="18" charset="0"/>
                <a:cs typeface="Times New Roman" panose="02020603050405020304" pitchFamily="18" charset="0"/>
              </a:rPr>
              <a:t> D B</a:t>
            </a:r>
          </a:p>
          <a:p>
            <a:pPr>
              <a:lnSpc>
                <a:spcPct val="150000"/>
              </a:lnSpc>
            </a:pPr>
            <a:r>
              <a:rPr lang="en-US" sz="2000" b="1" spc="5" dirty="0">
                <a:effectLst/>
                <a:latin typeface="Times New Roman" panose="02020603050405020304" pitchFamily="18" charset="0"/>
                <a:ea typeface="Times New Roman" panose="02020603050405020304" pitchFamily="18" charset="0"/>
              </a:rPr>
              <a:t>                Associate professor &amp;</a:t>
            </a:r>
            <a:r>
              <a:rPr lang="en-US" sz="2000" b="1" spc="5" dirty="0" err="1">
                <a:effectLst/>
                <a:latin typeface="Times New Roman" panose="02020603050405020304" pitchFamily="18" charset="0"/>
                <a:ea typeface="Times New Roman" panose="02020603050405020304" pitchFamily="18" charset="0"/>
              </a:rPr>
              <a:t>HoD</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                CSE-Data Science </a:t>
            </a:r>
            <a:endParaRPr lang="en-IN" sz="20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A477C4F-C1C7-CFEF-5610-39711D921903}"/>
              </a:ext>
            </a:extLst>
          </p:cNvPr>
          <p:cNvSpPr txBox="1"/>
          <p:nvPr/>
        </p:nvSpPr>
        <p:spPr>
          <a:xfrm>
            <a:off x="1666999" y="1610057"/>
            <a:ext cx="8359596" cy="1077218"/>
          </a:xfrm>
          <a:prstGeom prst="rect">
            <a:avLst/>
          </a:prstGeom>
          <a:noFill/>
        </p:spPr>
        <p:txBody>
          <a:bodyPr wrap="square" rtlCol="0">
            <a:spAutoFit/>
          </a:bodyPr>
          <a:lstStyle/>
          <a:p>
            <a:pPr algn="ctr"/>
            <a:r>
              <a:rPr lang="en-US" sz="3200" b="1" u="sng" dirty="0">
                <a:latin typeface="Times New Roman" pitchFamily="18" charset="0"/>
                <a:cs typeface="Times New Roman" pitchFamily="18" charset="0"/>
              </a:rPr>
              <a:t>“AI Powered Student Assistant Chatbot using RAG with </a:t>
            </a:r>
            <a:r>
              <a:rPr lang="en-US" sz="3200" b="1" u="sng" dirty="0" err="1">
                <a:latin typeface="Times New Roman" pitchFamily="18" charset="0"/>
                <a:cs typeface="Times New Roman" pitchFamily="18" charset="0"/>
              </a:rPr>
              <a:t>langchain</a:t>
            </a:r>
            <a:r>
              <a:rPr lang="en-US" sz="3200" b="1" u="sng" dirty="0">
                <a:latin typeface="Times New Roman" pitchFamily="18" charset="0"/>
                <a:cs typeface="Times New Roman" pitchFamily="18" charset="0"/>
              </a:rPr>
              <a:t>”</a:t>
            </a:r>
            <a:endParaRPr lang="en-IN" sz="3200" b="1" u="sng" dirty="0">
              <a:latin typeface="Times New Roman" pitchFamily="18" charset="0"/>
              <a:cs typeface="Times New Roman" pitchFamily="18" charset="0"/>
            </a:endParaRPr>
          </a:p>
        </p:txBody>
      </p:sp>
      <p:pic>
        <p:nvPicPr>
          <p:cNvPr id="2" name="Picture 2" descr="A logo for a college of engineering&#10;&#10;AI-generated content may be incorrect.">
            <a:extLst>
              <a:ext uri="{FF2B5EF4-FFF2-40B4-BE49-F238E27FC236}">
                <a16:creationId xmlns:a16="http://schemas.microsoft.com/office/drawing/2014/main" id="{BE17F80A-0461-BD9D-9A55-66A2448859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111" y="206390"/>
            <a:ext cx="25527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0012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5"/>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502298" y="1023693"/>
            <a:ext cx="10515600" cy="663507"/>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600" b="1" dirty="0">
                <a:solidFill>
                  <a:srgbClr val="7030A0"/>
                </a:solidFill>
                <a:latin typeface="Times New Roman" pitchFamily="18" charset="0"/>
                <a:cs typeface="Times New Roman" pitchFamily="18" charset="0"/>
              </a:rPr>
              <a:t>CONTENTS</a:t>
            </a:r>
            <a:br>
              <a:rPr lang="en-US" sz="3600" b="1" dirty="0">
                <a:solidFill>
                  <a:srgbClr val="7030A0"/>
                </a:solidFill>
                <a:latin typeface="Times New Roman" pitchFamily="18" charset="0"/>
                <a:cs typeface="Times New Roman" pitchFamily="18" charset="0"/>
              </a:rPr>
            </a:br>
            <a:endParaRPr lang="en-IN" sz="3600" b="1" dirty="0">
              <a:solidFill>
                <a:srgbClr val="7030A0"/>
              </a:solidFill>
            </a:endParaRPr>
          </a:p>
        </p:txBody>
      </p:sp>
      <p:sp>
        <p:nvSpPr>
          <p:cNvPr id="3" name="Content Placeholder 2">
            <a:extLst>
              <a:ext uri="{FF2B5EF4-FFF2-40B4-BE49-F238E27FC236}">
                <a16:creationId xmlns:a16="http://schemas.microsoft.com/office/drawing/2014/main" id="{1D1F351B-585C-78D1-D140-40CAD978E459}"/>
              </a:ext>
            </a:extLst>
          </p:cNvPr>
          <p:cNvSpPr>
            <a:spLocks noGrp="1"/>
          </p:cNvSpPr>
          <p:nvPr>
            <p:ph idx="1"/>
          </p:nvPr>
        </p:nvSpPr>
        <p:spPr>
          <a:xfrm>
            <a:off x="726881" y="1631250"/>
            <a:ext cx="4676192" cy="4283319"/>
          </a:xfrm>
        </p:spPr>
        <p:txBody>
          <a:bodyPr>
            <a:normAutofit/>
          </a:bodyPr>
          <a:lstStyle/>
          <a:p>
            <a:pPr marL="0" indent="0" algn="just">
              <a:lnSpc>
                <a:spcPct val="150000"/>
              </a:lnSpc>
              <a:buNone/>
            </a:pPr>
            <a:r>
              <a:rPr lang="en-US" sz="1800" b="1" dirty="0">
                <a:solidFill>
                  <a:srgbClr val="002060"/>
                </a:solidFill>
                <a:latin typeface="Times New Roman" pitchFamily="18" charset="0"/>
                <a:cs typeface="Times New Roman" pitchFamily="18" charset="0"/>
              </a:rPr>
              <a:t>1.Introduction</a:t>
            </a:r>
          </a:p>
          <a:p>
            <a:pPr marL="0" indent="0" algn="just">
              <a:lnSpc>
                <a:spcPct val="150000"/>
              </a:lnSpc>
              <a:buNone/>
            </a:pPr>
            <a:r>
              <a:rPr lang="en-US" sz="1800" b="1" dirty="0">
                <a:solidFill>
                  <a:srgbClr val="002060"/>
                </a:solidFill>
                <a:latin typeface="Times New Roman" pitchFamily="18" charset="0"/>
                <a:cs typeface="Times New Roman" pitchFamily="18" charset="0"/>
              </a:rPr>
              <a:t>2.Problem Statement</a:t>
            </a:r>
          </a:p>
          <a:p>
            <a:pPr marL="0" indent="0" algn="just">
              <a:lnSpc>
                <a:spcPct val="150000"/>
              </a:lnSpc>
              <a:buNone/>
            </a:pPr>
            <a:r>
              <a:rPr lang="en-US" sz="1800" b="1" dirty="0">
                <a:solidFill>
                  <a:srgbClr val="002060"/>
                </a:solidFill>
                <a:latin typeface="Times New Roman" pitchFamily="18" charset="0"/>
                <a:cs typeface="Times New Roman" pitchFamily="18" charset="0"/>
              </a:rPr>
              <a:t>3.Literature Survey </a:t>
            </a:r>
          </a:p>
          <a:p>
            <a:pPr marL="0" indent="0" algn="just">
              <a:lnSpc>
                <a:spcPct val="150000"/>
              </a:lnSpc>
              <a:buNone/>
            </a:pPr>
            <a:r>
              <a:rPr lang="en-US" sz="1800" b="1" dirty="0">
                <a:solidFill>
                  <a:srgbClr val="002060"/>
                </a:solidFill>
                <a:latin typeface="Times New Roman" pitchFamily="18" charset="0"/>
                <a:cs typeface="Times New Roman" pitchFamily="18" charset="0"/>
              </a:rPr>
              <a:t>4.Recap of Phase -1 work done</a:t>
            </a:r>
          </a:p>
          <a:p>
            <a:pPr marL="0" indent="0" algn="just">
              <a:lnSpc>
                <a:spcPct val="150000"/>
              </a:lnSpc>
              <a:buNone/>
            </a:pPr>
            <a:r>
              <a:rPr lang="en-US" sz="1800" b="1" dirty="0">
                <a:solidFill>
                  <a:srgbClr val="002060"/>
                </a:solidFill>
                <a:latin typeface="Times New Roman" pitchFamily="18" charset="0"/>
                <a:cs typeface="Times New Roman" pitchFamily="18" charset="0"/>
              </a:rPr>
              <a:t>5.Implementation details</a:t>
            </a:r>
          </a:p>
          <a:p>
            <a:pPr marL="0" indent="0" algn="just">
              <a:lnSpc>
                <a:spcPct val="150000"/>
              </a:lnSpc>
              <a:buNone/>
            </a:pPr>
            <a:r>
              <a:rPr lang="en-US" sz="1800" b="1" dirty="0">
                <a:solidFill>
                  <a:srgbClr val="002060"/>
                </a:solidFill>
                <a:latin typeface="Times New Roman" pitchFamily="18" charset="0"/>
                <a:cs typeface="Times New Roman" pitchFamily="18" charset="0"/>
              </a:rPr>
              <a:t>6.System Architecture</a:t>
            </a:r>
          </a:p>
          <a:p>
            <a:pPr marL="0" indent="0" algn="just">
              <a:lnSpc>
                <a:spcPct val="150000"/>
              </a:lnSpc>
              <a:buNone/>
            </a:pPr>
            <a:r>
              <a:rPr lang="en-US" sz="1800" b="1" dirty="0">
                <a:solidFill>
                  <a:srgbClr val="002060"/>
                </a:solidFill>
                <a:latin typeface="Times New Roman" pitchFamily="18" charset="0"/>
                <a:cs typeface="Times New Roman" pitchFamily="18" charset="0"/>
              </a:rPr>
              <a:t>7.Expected outcomes</a:t>
            </a:r>
          </a:p>
          <a:p>
            <a:pPr marL="0" indent="0" algn="just">
              <a:lnSpc>
                <a:spcPct val="150000"/>
              </a:lnSpc>
              <a:buNone/>
            </a:pPr>
            <a:r>
              <a:rPr lang="en-US" sz="1800" b="1" dirty="0">
                <a:solidFill>
                  <a:srgbClr val="002060"/>
                </a:solidFill>
                <a:latin typeface="Times New Roman" pitchFamily="18" charset="0"/>
                <a:cs typeface="Times New Roman" pitchFamily="18" charset="0"/>
              </a:rPr>
              <a:t>8. References</a:t>
            </a:r>
            <a:endParaRPr lang="en-IN" sz="1800" dirty="0"/>
          </a:p>
        </p:txBody>
      </p:sp>
      <p:pic>
        <p:nvPicPr>
          <p:cNvPr id="7" name="Picture 2" descr="A logo for a college of engineering&#10;&#10;AI-generated content may be incorrect.">
            <a:extLst>
              <a:ext uri="{FF2B5EF4-FFF2-40B4-BE49-F238E27FC236}">
                <a16:creationId xmlns:a16="http://schemas.microsoft.com/office/drawing/2014/main" id="{5D80553F-7138-1786-551B-5DEF30D1AF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094" y="77333"/>
            <a:ext cx="25527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942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762794" y="336943"/>
            <a:ext cx="5518484" cy="569494"/>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200" b="1" dirty="0">
                <a:solidFill>
                  <a:srgbClr val="7030A0"/>
                </a:solidFill>
                <a:latin typeface="Times New Roman" pitchFamily="18" charset="0"/>
                <a:cs typeface="Times New Roman" pitchFamily="18" charset="0"/>
              </a:rPr>
              <a:t>INTRODUCTION</a:t>
            </a:r>
            <a:endParaRPr lang="en-IN" sz="3200" b="1" dirty="0">
              <a:solidFill>
                <a:srgbClr val="7030A0"/>
              </a:solidFill>
            </a:endParaRPr>
          </a:p>
        </p:txBody>
      </p:sp>
      <p:sp>
        <p:nvSpPr>
          <p:cNvPr id="3" name="Content Placeholder 2">
            <a:extLst>
              <a:ext uri="{FF2B5EF4-FFF2-40B4-BE49-F238E27FC236}">
                <a16:creationId xmlns:a16="http://schemas.microsoft.com/office/drawing/2014/main" id="{1D1F351B-585C-78D1-D140-40CAD978E459}"/>
              </a:ext>
            </a:extLst>
          </p:cNvPr>
          <p:cNvSpPr>
            <a:spLocks noGrp="1"/>
          </p:cNvSpPr>
          <p:nvPr>
            <p:ph idx="1"/>
          </p:nvPr>
        </p:nvSpPr>
        <p:spPr>
          <a:xfrm>
            <a:off x="266029" y="1316275"/>
            <a:ext cx="11485011" cy="4986183"/>
          </a:xfrm>
        </p:spPr>
        <p:txBody>
          <a:bodyPr>
            <a:noAutofit/>
          </a:bodyPr>
          <a:lstStyle/>
          <a:p>
            <a:pPr algn="just"/>
            <a:r>
              <a:rPr lang="en-US" sz="2400" b="1" dirty="0">
                <a:latin typeface="Times New Roman" panose="02020603050405020304" pitchFamily="18" charset="0"/>
                <a:cs typeface="Times New Roman" panose="02020603050405020304" pitchFamily="18" charset="0"/>
              </a:rPr>
              <a:t>Retrieval-Augmented Generation (RAG)</a:t>
            </a:r>
            <a:r>
              <a:rPr lang="en-US" sz="2400" dirty="0">
                <a:latin typeface="Times New Roman" panose="02020603050405020304" pitchFamily="18" charset="0"/>
                <a:cs typeface="Times New Roman" panose="02020603050405020304" pitchFamily="18" charset="0"/>
              </a:rPr>
              <a:t> is a technique that makes AI smarter by letting it search for information in documents before giving an answer. This way, the AI doesn’t just rely on what it was trained on but also uses the latest and most relevant knowledge in the documents we upload.</a:t>
            </a:r>
          </a:p>
          <a:p>
            <a:pPr algn="just"/>
            <a:r>
              <a:rPr lang="en-US" sz="2400" b="1" dirty="0" err="1">
                <a:latin typeface="Times New Roman" panose="02020603050405020304" pitchFamily="18" charset="0"/>
                <a:cs typeface="Times New Roman" panose="02020603050405020304" pitchFamily="18" charset="0"/>
              </a:rPr>
              <a:t>LangChain</a:t>
            </a:r>
            <a:r>
              <a:rPr lang="en-US" sz="2400" dirty="0">
                <a:latin typeface="Times New Roman" panose="02020603050405020304" pitchFamily="18" charset="0"/>
                <a:cs typeface="Times New Roman" panose="02020603050405020304" pitchFamily="18" charset="0"/>
              </a:rPr>
              <a:t> is a tool that helps developers easily connect large language models with external data like documents, databases, or APIs. It provides ready-made components to build powerful AI applications quickly.</a:t>
            </a:r>
          </a:p>
          <a:p>
            <a:pPr algn="just"/>
            <a:r>
              <a:rPr lang="en-US" sz="2400" dirty="0">
                <a:latin typeface="Times New Roman" panose="02020603050405020304" pitchFamily="18" charset="0"/>
                <a:cs typeface="Times New Roman" panose="02020603050405020304" pitchFamily="18" charset="0"/>
              </a:rPr>
              <a:t>In this project, we are building a </a:t>
            </a:r>
            <a:r>
              <a:rPr lang="en-US" sz="2400" b="1" dirty="0">
                <a:latin typeface="Times New Roman" panose="02020603050405020304" pitchFamily="18" charset="0"/>
                <a:cs typeface="Times New Roman" panose="02020603050405020304" pitchFamily="18" charset="0"/>
              </a:rPr>
              <a:t>Student Assistant Chatbot</a:t>
            </a:r>
            <a:r>
              <a:rPr lang="en-US" sz="2400" dirty="0">
                <a:latin typeface="Times New Roman" panose="02020603050405020304" pitchFamily="18" charset="0"/>
                <a:cs typeface="Times New Roman" panose="02020603050405020304" pitchFamily="18" charset="0"/>
              </a:rPr>
              <a:t> using RAG and </a:t>
            </a:r>
            <a:r>
              <a:rPr lang="en-US" sz="2400" dirty="0" err="1">
                <a:latin typeface="Times New Roman" panose="02020603050405020304" pitchFamily="18" charset="0"/>
                <a:cs typeface="Times New Roman" panose="02020603050405020304" pitchFamily="18" charset="0"/>
              </a:rPr>
              <a:t>LangChain</a:t>
            </a:r>
            <a:r>
              <a:rPr lang="en-US" sz="2400" dirty="0">
                <a:latin typeface="Times New Roman" panose="02020603050405020304" pitchFamily="18" charset="0"/>
                <a:cs typeface="Times New Roman" panose="02020603050405020304" pitchFamily="18" charset="0"/>
              </a:rPr>
              <a:t>. Students can upload their study materials (like PDFs or notes), and the chatbot will answer questions based on those documents. It can also generate quizzes, create personalized study plans, and keep track of chat history and uploaded files. The system is built with </a:t>
            </a:r>
            <a:r>
              <a:rPr lang="en-US" sz="2400" b="1" dirty="0" err="1">
                <a:latin typeface="Times New Roman" panose="02020603050405020304" pitchFamily="18" charset="0"/>
                <a:cs typeface="Times New Roman" panose="02020603050405020304" pitchFamily="18" charset="0"/>
              </a:rPr>
              <a:t>FastAPI</a:t>
            </a:r>
            <a:r>
              <a:rPr lang="en-US" sz="2400" b="1" dirty="0">
                <a:latin typeface="Times New Roman" panose="02020603050405020304" pitchFamily="18" charset="0"/>
                <a:cs typeface="Times New Roman" panose="02020603050405020304" pitchFamily="18" charset="0"/>
              </a:rPr>
              <a:t> (backend)</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MongoDB (database)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React (frontend)</a:t>
            </a:r>
            <a:r>
              <a:rPr lang="en-US" sz="2400" dirty="0">
                <a:latin typeface="Times New Roman" panose="02020603050405020304" pitchFamily="18" charset="0"/>
                <a:cs typeface="Times New Roman" panose="02020603050405020304" pitchFamily="18" charset="0"/>
              </a:rPr>
              <a:t>, and packaged with </a:t>
            </a:r>
            <a:r>
              <a:rPr lang="en-US" sz="2400" b="1" dirty="0">
                <a:latin typeface="Times New Roman" panose="02020603050405020304" pitchFamily="18" charset="0"/>
                <a:cs typeface="Times New Roman" panose="02020603050405020304" pitchFamily="18" charset="0"/>
              </a:rPr>
              <a:t>Docker</a:t>
            </a:r>
            <a:r>
              <a:rPr lang="en-US" sz="2400" dirty="0">
                <a:latin typeface="Times New Roman" panose="02020603050405020304" pitchFamily="18" charset="0"/>
                <a:cs typeface="Times New Roman" panose="02020603050405020304" pitchFamily="18" charset="0"/>
              </a:rPr>
              <a:t> so it can run smoothly on the cloud.</a:t>
            </a:r>
          </a:p>
        </p:txBody>
      </p:sp>
      <p:pic>
        <p:nvPicPr>
          <p:cNvPr id="7" name="Picture 2" descr="A logo for a college of engineering&#10;&#10;AI-generated content may be incorrect.">
            <a:extLst>
              <a:ext uri="{FF2B5EF4-FFF2-40B4-BE49-F238E27FC236}">
                <a16:creationId xmlns:a16="http://schemas.microsoft.com/office/drawing/2014/main" id="{0F82860E-B3E8-BED5-83A7-9BE021E056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094" y="77333"/>
            <a:ext cx="25527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426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1C670-669B-7AEA-C98C-8049770E7E7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D5DE30F-1E98-078D-C957-64E0CB9DC5DB}"/>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3855933F-4FF5-5B46-6CAE-F7F89624DE7D}"/>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4BDA5BD6-FCB4-1995-1125-A7FC2D3EB443}"/>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9C06A899-168D-E726-659A-0FC63CCDF76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grpSp>
        <p:nvGrpSpPr>
          <p:cNvPr id="6" name="Group 11">
            <a:extLst>
              <a:ext uri="{FF2B5EF4-FFF2-40B4-BE49-F238E27FC236}">
                <a16:creationId xmlns:a16="http://schemas.microsoft.com/office/drawing/2014/main" id="{D60B88A2-62F9-1FC6-5D7E-033B94C0F475}"/>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26E70F3A-1617-2CEC-1FF6-A78379ABB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BA3DE1C9-59D5-FBD0-5607-3C2CB17BD4C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5360625-DC5F-BB4D-6659-85952D7BA51E}"/>
              </a:ext>
            </a:extLst>
          </p:cNvPr>
          <p:cNvPicPr>
            <a:picLocks noChangeAspect="1"/>
          </p:cNvPicPr>
          <p:nvPr/>
        </p:nvPicPr>
        <p:blipFill>
          <a:blip r:embed="rId5"/>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BB1C0359-9B38-E817-FA40-0305BB972DBB}"/>
              </a:ext>
            </a:extLst>
          </p:cNvPr>
          <p:cNvSpPr>
            <a:spLocks noGrp="1"/>
          </p:cNvSpPr>
          <p:nvPr>
            <p:ph type="title"/>
          </p:nvPr>
        </p:nvSpPr>
        <p:spPr>
          <a:xfrm>
            <a:off x="502298" y="1023693"/>
            <a:ext cx="10515600" cy="663507"/>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600" b="1" dirty="0">
                <a:solidFill>
                  <a:srgbClr val="7030A0"/>
                </a:solidFill>
                <a:latin typeface="Times New Roman" pitchFamily="18" charset="0"/>
                <a:cs typeface="Times New Roman" pitchFamily="18" charset="0"/>
              </a:rPr>
              <a:t>PROBLEM STATEMENT</a:t>
            </a:r>
            <a:br>
              <a:rPr lang="en-US" sz="3600" b="1" dirty="0">
                <a:solidFill>
                  <a:srgbClr val="7030A0"/>
                </a:solidFill>
                <a:latin typeface="Times New Roman" pitchFamily="18" charset="0"/>
                <a:cs typeface="Times New Roman" pitchFamily="18" charset="0"/>
              </a:rPr>
            </a:br>
            <a:endParaRPr lang="en-IN" sz="3600" b="1" dirty="0">
              <a:solidFill>
                <a:srgbClr val="7030A0"/>
              </a:solidFill>
            </a:endParaRPr>
          </a:p>
        </p:txBody>
      </p:sp>
      <p:pic>
        <p:nvPicPr>
          <p:cNvPr id="7" name="Picture 2" descr="A logo for a college of engineering&#10;&#10;AI-generated content may be incorrect.">
            <a:extLst>
              <a:ext uri="{FF2B5EF4-FFF2-40B4-BE49-F238E27FC236}">
                <a16:creationId xmlns:a16="http://schemas.microsoft.com/office/drawing/2014/main" id="{86DE385B-F1DF-3318-0839-7780958816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094" y="77333"/>
            <a:ext cx="2552700" cy="9525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3">
            <a:extLst>
              <a:ext uri="{FF2B5EF4-FFF2-40B4-BE49-F238E27FC236}">
                <a16:creationId xmlns:a16="http://schemas.microsoft.com/office/drawing/2014/main" id="{78F9C756-5D8A-4510-B7BB-9735DD5FDA85}"/>
              </a:ext>
            </a:extLst>
          </p:cNvPr>
          <p:cNvSpPr>
            <a:spLocks noChangeArrowheads="1"/>
          </p:cNvSpPr>
          <p:nvPr/>
        </p:nvSpPr>
        <p:spPr bwMode="auto">
          <a:xfrm rot="10800000" flipV="1">
            <a:off x="500667" y="1831827"/>
            <a:ext cx="11479636"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400" b="1" dirty="0">
                <a:latin typeface="Times New Roman" pitchFamily="18" charset="0"/>
                <a:cs typeface="Times New Roman" pitchFamily="18" charset="0"/>
              </a:rPr>
              <a:t>AI Powered Student Assistant Chatbot using RAG with </a:t>
            </a:r>
            <a:r>
              <a:rPr lang="en-US" sz="2400" b="1" dirty="0" err="1">
                <a:latin typeface="Times New Roman" pitchFamily="18" charset="0"/>
                <a:cs typeface="Times New Roman" pitchFamily="18" charset="0"/>
              </a:rPr>
              <a:t>langchain</a:t>
            </a:r>
            <a:endParaRPr lang="en-US" sz="2400" b="1" dirty="0">
              <a:latin typeface="Times New Roman" pitchFamily="18" charset="0"/>
              <a:cs typeface="Times New Roman" pitchFamily="18" charset="0"/>
            </a:endParaRPr>
          </a:p>
          <a:p>
            <a:pPr marL="285750" indent="-285750" eaLnBrk="0" fontAlgn="base" hangingPunct="0">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intelligent chatbot that helps students with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academic Q&amp;A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uploaded study materials.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RAG (Retrieval-Augmented Generation)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provide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context-aware answers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with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LangChain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modular AI pipelines, enabling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quizzes, study plans, and personalized support</a:t>
            </a:r>
            <a:endParaRPr lang="en-US" altLang="en-US" sz="22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200" b="1" dirty="0">
                <a:latin typeface="Times New Roman" panose="02020603050405020304" pitchFamily="18" charset="0"/>
                <a:cs typeface="Times New Roman" panose="02020603050405020304" pitchFamily="18" charset="0"/>
              </a:rPr>
              <a:t>Objectives of the project:</a:t>
            </a:r>
          </a:p>
          <a:p>
            <a:pPr lvl="0" eaLnBrk="0" fontAlgn="base" hangingPunct="0">
              <a:spcBef>
                <a:spcPct val="0"/>
              </a:spcBef>
              <a:spcAft>
                <a:spcPct val="0"/>
              </a:spcAft>
            </a:pPr>
            <a:r>
              <a:rPr lang="en-US" sz="2000" dirty="0">
                <a:latin typeface="Times New Roman" panose="02020603050405020304" pitchFamily="18" charset="0"/>
                <a:cs typeface="Times New Roman" panose="02020603050405020304" pitchFamily="18" charset="0"/>
              </a:rPr>
              <a:t>The main Objectives of project are: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IN" sz="2200" dirty="0">
                <a:latin typeface="Times New Roman" panose="02020603050405020304" pitchFamily="18" charset="0"/>
                <a:cs typeface="Times New Roman" panose="02020603050405020304" pitchFamily="18" charset="0"/>
              </a:rPr>
              <a:t>1.Design a Conversational AI System Using RAG</a:t>
            </a:r>
          </a:p>
          <a:p>
            <a:pPr lvl="0" eaLnBrk="0" fontAlgn="base" hangingPunct="0">
              <a:spcBef>
                <a:spcPct val="0"/>
              </a:spcBef>
              <a:spcAft>
                <a:spcPct val="0"/>
              </a:spcAft>
            </a:pPr>
            <a:r>
              <a:rPr lang="nn-NO" sz="2200" dirty="0">
                <a:latin typeface="Times New Roman" panose="02020603050405020304" pitchFamily="18" charset="0"/>
                <a:cs typeface="Times New Roman" panose="02020603050405020304" pitchFamily="18" charset="0"/>
              </a:rPr>
              <a:t>2.Integrate LangChain Framework for Modular Pipeline</a:t>
            </a:r>
          </a:p>
          <a:p>
            <a:pPr lvl="0" eaLnBrk="0" fontAlgn="base" hangingPunct="0">
              <a:spcBef>
                <a:spcPct val="0"/>
              </a:spcBef>
              <a:spcAft>
                <a:spcPct val="0"/>
              </a:spcAft>
            </a:pPr>
            <a:r>
              <a:rPr lang="en-US" sz="2200" dirty="0">
                <a:latin typeface="Times New Roman" panose="02020603050405020304" pitchFamily="18" charset="0"/>
                <a:cs typeface="Times New Roman" panose="02020603050405020304" pitchFamily="18" charset="0"/>
              </a:rPr>
              <a:t>3.Build an Interactive User Interface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0799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952388" y="162490"/>
            <a:ext cx="5518484" cy="281915"/>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200" b="1" dirty="0">
                <a:solidFill>
                  <a:srgbClr val="7030A0"/>
                </a:solidFill>
                <a:latin typeface="Times New Roman" panose="02020603050405020304" pitchFamily="18" charset="0"/>
                <a:cs typeface="Times New Roman" panose="02020603050405020304" pitchFamily="18" charset="0"/>
              </a:rPr>
              <a:t>LITERATURE SURVEY</a:t>
            </a:r>
            <a:endParaRPr lang="en-IN" sz="3200" b="1" dirty="0">
              <a:solidFill>
                <a:srgbClr val="7030A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74683911"/>
              </p:ext>
            </p:extLst>
          </p:nvPr>
        </p:nvGraphicFramePr>
        <p:xfrm>
          <a:off x="367665" y="1010969"/>
          <a:ext cx="11290300" cy="5308600"/>
        </p:xfrm>
        <a:graphic>
          <a:graphicData uri="http://schemas.openxmlformats.org/drawingml/2006/table">
            <a:tbl>
              <a:tblPr firstRow="1" bandRow="1">
                <a:tableStyleId>{5C22544A-7EE6-4342-B048-85BDC9FD1C3A}</a:tableStyleId>
              </a:tblPr>
              <a:tblGrid>
                <a:gridCol w="739775">
                  <a:extLst>
                    <a:ext uri="{9D8B030D-6E8A-4147-A177-3AD203B41FA5}">
                      <a16:colId xmlns:a16="http://schemas.microsoft.com/office/drawing/2014/main" val="20000"/>
                    </a:ext>
                  </a:extLst>
                </a:gridCol>
                <a:gridCol w="354584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gridCol w="3225165">
                  <a:extLst>
                    <a:ext uri="{9D8B030D-6E8A-4147-A177-3AD203B41FA5}">
                      <a16:colId xmlns:a16="http://schemas.microsoft.com/office/drawing/2014/main" val="20003"/>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Sl.no</a:t>
                      </a:r>
                      <a:endParaRPr lang="en-US" sz="1800"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itchFamily="18" charset="0"/>
                          <a:cs typeface="Times New Roman" pitchFamily="18" charset="0"/>
                        </a:rPr>
                        <a:t>Title,Author,Year</a:t>
                      </a:r>
                      <a:endParaRPr lang="en-US" sz="1800"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Summary</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Limitation/Gaps</a:t>
                      </a:r>
                    </a:p>
                  </a:txBody>
                  <a:tcPr/>
                </a:tc>
                <a:extLst>
                  <a:ext uri="{0D108BD9-81ED-4DB2-BD59-A6C34878D82A}">
                    <a16:rowId xmlns:a16="http://schemas.microsoft.com/office/drawing/2014/main" val="10000"/>
                  </a:ext>
                </a:extLst>
              </a:tr>
              <a:tr h="370840">
                <a:tc>
                  <a:txBody>
                    <a:bodyPr/>
                    <a:lstStyle/>
                    <a:p>
                      <a:pPr algn="ctr"/>
                      <a:r>
                        <a:rPr lang="en-IN" dirty="0"/>
                        <a:t>1.</a:t>
                      </a:r>
                    </a:p>
                  </a:txBody>
                  <a:tcPr/>
                </a:tc>
                <a:tc>
                  <a:txBody>
                    <a:bodyPr/>
                    <a:lstStyle/>
                    <a:p>
                      <a:r>
                        <a:rPr lang="en-US" dirty="0">
                          <a:latin typeface="Times New Roman" pitchFamily="18" charset="0"/>
                          <a:cs typeface="Times New Roman" pitchFamily="18" charset="0"/>
                        </a:rPr>
                        <a:t>“Design and Implementation of </a:t>
                      </a:r>
                      <a:r>
                        <a:rPr lang="en-US" dirty="0" err="1">
                          <a:latin typeface="Times New Roman" pitchFamily="18" charset="0"/>
                          <a:cs typeface="Times New Roman" pitchFamily="18" charset="0"/>
                        </a:rPr>
                        <a:t>LangChain</a:t>
                      </a:r>
                      <a:r>
                        <a:rPr lang="en-US" dirty="0">
                          <a:latin typeface="Times New Roman" pitchFamily="18" charset="0"/>
                          <a:cs typeface="Times New Roman" pitchFamily="18" charset="0"/>
                        </a:rPr>
                        <a:t>-based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a:t>
                      </a:r>
                    </a:p>
                    <a:p>
                      <a:r>
                        <a:rPr lang="en-US" sz="1800" kern="1200" dirty="0">
                          <a:effectLst/>
                          <a:latin typeface="Times New Roman" pitchFamily="18" charset="0"/>
                          <a:cs typeface="Times New Roman" pitchFamily="18" charset="0"/>
                        </a:rPr>
                        <a:t>Author: </a:t>
                      </a:r>
                      <a:r>
                        <a:rPr lang="en-IN" dirty="0" err="1"/>
                        <a:t>Huaxiao</a:t>
                      </a:r>
                      <a:r>
                        <a:rPr lang="en-IN" dirty="0"/>
                        <a:t> Zhang, </a:t>
                      </a:r>
                      <a:r>
                        <a:rPr lang="en-IN" dirty="0" err="1"/>
                        <a:t>Zhigang</a:t>
                      </a:r>
                      <a:r>
                        <a:rPr lang="en-IN" dirty="0"/>
                        <a:t> Li.</a:t>
                      </a:r>
                      <a:endParaRPr lang="en-US" sz="1800" kern="1200" dirty="0">
                        <a:effectLst/>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Times New Roman" pitchFamily="18" charset="0"/>
                          <a:cs typeface="Times New Roman" pitchFamily="18" charset="0"/>
                        </a:rPr>
                        <a:t>Year:2024</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The paper presents a </a:t>
                      </a:r>
                      <a:r>
                        <a:rPr lang="en-US" dirty="0" err="1">
                          <a:latin typeface="Times New Roman" pitchFamily="18" charset="0"/>
                          <a:cs typeface="Times New Roman" pitchFamily="18" charset="0"/>
                        </a:rPr>
                        <a:t>LangChain</a:t>
                      </a:r>
                      <a:r>
                        <a:rPr lang="en-US" dirty="0">
                          <a:latin typeface="Times New Roman" pitchFamily="18" charset="0"/>
                          <a:cs typeface="Times New Roman" pitchFamily="18" charset="0"/>
                        </a:rPr>
                        <a:t>-based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that uses LLMs and local knowledge bases like PDFs and videos to provide accurate, context-aware responses. </a:t>
                      </a:r>
                      <a:endParaRPr lang="en-IN"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The system relies on cloud-based LLMs, which raises concerns regarding data privacy and information security.</a:t>
                      </a:r>
                      <a:endParaRPr lang="en-IN" dirty="0">
                        <a:latin typeface="Times New Roman" pitchFamily="18" charset="0"/>
                        <a:cs typeface="Times New Roman" pitchFamily="18" charset="0"/>
                      </a:endParaRPr>
                    </a:p>
                    <a:p>
                      <a:endParaRPr lang="en-IN" dirty="0"/>
                    </a:p>
                  </a:txBody>
                  <a:tcPr/>
                </a:tc>
                <a:extLst>
                  <a:ext uri="{0D108BD9-81ED-4DB2-BD59-A6C34878D82A}">
                    <a16:rowId xmlns:a16="http://schemas.microsoft.com/office/drawing/2014/main" val="10001"/>
                  </a:ext>
                </a:extLst>
              </a:tr>
              <a:tr h="370840">
                <a:tc>
                  <a:txBody>
                    <a:bodyPr/>
                    <a:lstStyle/>
                    <a:p>
                      <a:pPr algn="ctr"/>
                      <a:r>
                        <a:rPr lang="en-IN" dirty="0"/>
                        <a:t>2.</a:t>
                      </a:r>
                    </a:p>
                  </a:txBody>
                  <a:tcPr/>
                </a:tc>
                <a:tc>
                  <a:txBody>
                    <a:bodyPr/>
                    <a:lstStyle/>
                    <a:p>
                      <a:r>
                        <a:rPr lang="en-US" dirty="0">
                          <a:latin typeface="Times New Roman" pitchFamily="18" charset="0"/>
                          <a:cs typeface="Times New Roman" pitchFamily="18" charset="0"/>
                        </a:rPr>
                        <a:t>“Development of Interactive Assistance for Academic Preparation Using Large Language Models”</a:t>
                      </a:r>
                    </a:p>
                    <a:p>
                      <a:r>
                        <a:rPr lang="en-US" sz="1800" kern="1200" dirty="0">
                          <a:effectLst/>
                          <a:latin typeface="Times New Roman" pitchFamily="18" charset="0"/>
                          <a:cs typeface="Times New Roman" pitchFamily="18" charset="0"/>
                        </a:rPr>
                        <a:t>Author:</a:t>
                      </a:r>
                      <a:r>
                        <a:rPr lang="en-IN" dirty="0">
                          <a:latin typeface="Times New Roman" pitchFamily="18" charset="0"/>
                          <a:cs typeface="Times New Roman" pitchFamily="18" charset="0"/>
                        </a:rPr>
                        <a:t>Kumar P, </a:t>
                      </a:r>
                      <a:r>
                        <a:rPr lang="en-IN" dirty="0" err="1">
                          <a:latin typeface="Times New Roman" pitchFamily="18" charset="0"/>
                          <a:cs typeface="Times New Roman" pitchFamily="18" charset="0"/>
                        </a:rPr>
                        <a:t>Haresh</a:t>
                      </a:r>
                      <a:r>
                        <a:rPr lang="en-IN" dirty="0">
                          <a:latin typeface="Times New Roman" pitchFamily="18" charset="0"/>
                          <a:cs typeface="Times New Roman" pitchFamily="18" charset="0"/>
                        </a:rPr>
                        <a:t> M.</a:t>
                      </a:r>
                      <a:endParaRPr lang="en-US" sz="1800" kern="1200" dirty="0">
                        <a:effectLst/>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Times New Roman" pitchFamily="18" charset="0"/>
                          <a:cs typeface="Times New Roman" pitchFamily="18" charset="0"/>
                        </a:rPr>
                        <a:t>Year:2024</a:t>
                      </a:r>
                    </a:p>
                  </a:txBody>
                  <a:tcPr/>
                </a:tc>
                <a:tc>
                  <a:txBody>
                    <a:bodyPr/>
                    <a:lstStyle/>
                    <a:p>
                      <a:r>
                        <a:rPr lang="en-US" dirty="0">
                          <a:latin typeface="Times New Roman" pitchFamily="18" charset="0"/>
                          <a:cs typeface="Times New Roman" pitchFamily="18" charset="0"/>
                        </a:rPr>
                        <a:t>It presents a student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using locally deployed LLMs with </a:t>
                      </a:r>
                      <a:r>
                        <a:rPr lang="en-US" dirty="0" err="1">
                          <a:latin typeface="Times New Roman" pitchFamily="18" charset="0"/>
                          <a:cs typeface="Times New Roman" pitchFamily="18" charset="0"/>
                        </a:rPr>
                        <a:t>LangChain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Ollama</a:t>
                      </a:r>
                      <a:r>
                        <a:rPr lang="en-US" dirty="0">
                          <a:latin typeface="Times New Roman" pitchFamily="18" charset="0"/>
                          <a:cs typeface="Times New Roman" pitchFamily="18" charset="0"/>
                        </a:rPr>
                        <a:t>, and Meta’s 7B </a:t>
                      </a:r>
                      <a:r>
                        <a:rPr lang="en-US" dirty="0" err="1">
                          <a:latin typeface="Times New Roman" pitchFamily="18" charset="0"/>
                          <a:cs typeface="Times New Roman" pitchFamily="18" charset="0"/>
                        </a:rPr>
                        <a:t>model.It</a:t>
                      </a:r>
                      <a:r>
                        <a:rPr lang="en-US" dirty="0">
                          <a:latin typeface="Times New Roman" pitchFamily="18" charset="0"/>
                          <a:cs typeface="Times New Roman" pitchFamily="18" charset="0"/>
                        </a:rPr>
                        <a:t> uses RAG with FAISS and </a:t>
                      </a:r>
                      <a:r>
                        <a:rPr lang="en-US" dirty="0" err="1">
                          <a:latin typeface="Times New Roman" pitchFamily="18" charset="0"/>
                          <a:cs typeface="Times New Roman" pitchFamily="18" charset="0"/>
                        </a:rPr>
                        <a:t>Milvus</a:t>
                      </a:r>
                      <a:r>
                        <a:rPr lang="en-US" dirty="0">
                          <a:latin typeface="Times New Roman" pitchFamily="18" charset="0"/>
                          <a:cs typeface="Times New Roman" pitchFamily="18" charset="0"/>
                        </a:rPr>
                        <a:t> to retrieve academic content via a Flask-based web interface.</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The system is limited by the performance of lightweight local </a:t>
                      </a:r>
                      <a:r>
                        <a:rPr lang="en-US" dirty="0" err="1">
                          <a:latin typeface="Times New Roman" pitchFamily="18" charset="0"/>
                          <a:cs typeface="Times New Roman" pitchFamily="18" charset="0"/>
                        </a:rPr>
                        <a:t>LLMs.It</a:t>
                      </a:r>
                      <a:r>
                        <a:rPr lang="en-US" dirty="0">
                          <a:latin typeface="Times New Roman" pitchFamily="18" charset="0"/>
                          <a:cs typeface="Times New Roman" pitchFamily="18" charset="0"/>
                        </a:rPr>
                        <a:t> also requires high computational resources for real-time responses.</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676400">
                <a:tc>
                  <a:txBody>
                    <a:bodyPr/>
                    <a:lstStyle/>
                    <a:p>
                      <a:pPr algn="ctr"/>
                      <a:r>
                        <a:rPr lang="en-IN" dirty="0"/>
                        <a:t>3.</a:t>
                      </a:r>
                    </a:p>
                  </a:txBody>
                  <a:tcPr/>
                </a:tc>
                <a:tc>
                  <a:txBody>
                    <a:bodyPr/>
                    <a:lstStyle/>
                    <a:p>
                      <a:r>
                        <a:rPr lang="en-US" dirty="0">
                          <a:latin typeface="Times New Roman" pitchFamily="18" charset="0"/>
                          <a:cs typeface="Times New Roman" pitchFamily="18" charset="0"/>
                        </a:rPr>
                        <a:t>“A Client-Server Based Educational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for Academic Institutions”</a:t>
                      </a:r>
                    </a:p>
                    <a:p>
                      <a:r>
                        <a:rPr lang="en-US" sz="1800" kern="1200" dirty="0" err="1">
                          <a:effectLst/>
                          <a:latin typeface="Times New Roman" pitchFamily="18" charset="0"/>
                          <a:cs typeface="Times New Roman" pitchFamily="18" charset="0"/>
                        </a:rPr>
                        <a:t>Author:</a:t>
                      </a:r>
                      <a:r>
                        <a:rPr lang="en-US" dirty="0" err="1">
                          <a:latin typeface="Times New Roman" pitchFamily="18" charset="0"/>
                          <a:cs typeface="Times New Roman" pitchFamily="18" charset="0"/>
                        </a:rPr>
                        <a:t>Rohan</a:t>
                      </a:r>
                      <a:r>
                        <a:rPr lang="en-US" dirty="0">
                          <a:latin typeface="Times New Roman" pitchFamily="18" charset="0"/>
                          <a:cs typeface="Times New Roman" pitchFamily="18" charset="0"/>
                        </a:rPr>
                        <a:t> Paul Richard, Joel Mathew</a:t>
                      </a:r>
                      <a:r>
                        <a:rPr lang="en-IN" dirty="0">
                          <a:latin typeface="Times New Roman" pitchFamily="18" charset="0"/>
                          <a:cs typeface="Times New Roman" pitchFamily="18" charset="0"/>
                        </a:rPr>
                        <a:t>.</a:t>
                      </a:r>
                      <a:endParaRPr lang="en-US" sz="1800" kern="1200" dirty="0">
                        <a:effectLst/>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Times New Roman" pitchFamily="18" charset="0"/>
                          <a:cs typeface="Times New Roman" pitchFamily="18" charset="0"/>
                        </a:rPr>
                        <a:t>Year:2025</a:t>
                      </a:r>
                    </a:p>
                    <a:p>
                      <a:endParaRPr lang="en-IN" dirty="0"/>
                    </a:p>
                  </a:txBody>
                  <a:tcPr/>
                </a:tc>
                <a:tc>
                  <a:txBody>
                    <a:bodyPr/>
                    <a:lstStyle/>
                    <a:p>
                      <a:r>
                        <a:rPr lang="en-US" dirty="0">
                          <a:latin typeface="Times New Roman" pitchFamily="18" charset="0"/>
                          <a:cs typeface="Times New Roman" pitchFamily="18" charset="0"/>
                        </a:rPr>
                        <a:t>A client-server educational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is developed using </a:t>
                      </a:r>
                      <a:r>
                        <a:rPr lang="en-US" dirty="0" err="1">
                          <a:latin typeface="Times New Roman" pitchFamily="18" charset="0"/>
                          <a:cs typeface="Times New Roman" pitchFamily="18" charset="0"/>
                        </a:rPr>
                        <a:t>LangChain</a:t>
                      </a:r>
                      <a:r>
                        <a:rPr lang="en-US" baseline="0" dirty="0">
                          <a:latin typeface="Times New Roman" pitchFamily="18" charset="0"/>
                          <a:cs typeface="Times New Roman" pitchFamily="18" charset="0"/>
                        </a:rPr>
                        <a:t> and </a:t>
                      </a:r>
                      <a:r>
                        <a:rPr lang="en-US" dirty="0" err="1">
                          <a:latin typeface="Times New Roman" pitchFamily="18" charset="0"/>
                          <a:cs typeface="Times New Roman" pitchFamily="18" charset="0"/>
                        </a:rPr>
                        <a:t>FastAPI</a:t>
                      </a:r>
                      <a:r>
                        <a:rPr lang="en-US" dirty="0">
                          <a:latin typeface="Times New Roman" pitchFamily="18" charset="0"/>
                          <a:cs typeface="Times New Roman" pitchFamily="18" charset="0"/>
                        </a:rPr>
                        <a:t> for accurate, context-aware </a:t>
                      </a:r>
                      <a:r>
                        <a:rPr lang="en-US" dirty="0" err="1">
                          <a:latin typeface="Times New Roman" pitchFamily="18" charset="0"/>
                          <a:cs typeface="Times New Roman" pitchFamily="18" charset="0"/>
                        </a:rPr>
                        <a:t>responses.It</a:t>
                      </a:r>
                      <a:r>
                        <a:rPr lang="en-US" dirty="0">
                          <a:latin typeface="Times New Roman" pitchFamily="18" charset="0"/>
                          <a:cs typeface="Times New Roman" pitchFamily="18" charset="0"/>
                        </a:rPr>
                        <a:t> integrates academic PDFs and slides and supports multiple users with JWT-based authentication.</a:t>
                      </a:r>
                      <a:endParaRPr lang="en-IN" dirty="0">
                        <a:latin typeface="Times New Roman" pitchFamily="18" charset="0"/>
                        <a:cs typeface="Times New Roman" pitchFamily="18" charset="0"/>
                      </a:endParaRPr>
                    </a:p>
                  </a:txBody>
                  <a:tcPr/>
                </a:tc>
                <a:tc>
                  <a:txBody>
                    <a:bodyPr/>
                    <a:lstStyle/>
                    <a:p>
                      <a:pPr algn="l"/>
                      <a:r>
                        <a:rPr lang="en-US" dirty="0">
                          <a:latin typeface="Times New Roman" pitchFamily="18" charset="0"/>
                          <a:cs typeface="Times New Roman" pitchFamily="18" charset="0"/>
                        </a:rPr>
                        <a:t>It</a:t>
                      </a:r>
                      <a:r>
                        <a:rPr lang="en-US" baseline="0" dirty="0">
                          <a:latin typeface="Times New Roman" pitchFamily="18" charset="0"/>
                          <a:cs typeface="Times New Roman" pitchFamily="18" charset="0"/>
                        </a:rPr>
                        <a:t> </a:t>
                      </a:r>
                      <a:r>
                        <a:rPr lang="en-US" dirty="0">
                          <a:latin typeface="Times New Roman" pitchFamily="18" charset="0"/>
                          <a:cs typeface="Times New Roman" pitchFamily="18" charset="0"/>
                        </a:rPr>
                        <a:t>supports only text-based inputs, limiting </a:t>
                      </a:r>
                      <a:r>
                        <a:rPr lang="en-US" dirty="0" err="1">
                          <a:latin typeface="Times New Roman" pitchFamily="18" charset="0"/>
                          <a:cs typeface="Times New Roman" pitchFamily="18" charset="0"/>
                        </a:rPr>
                        <a:t>interactivity.Performance</a:t>
                      </a:r>
                      <a:r>
                        <a:rPr lang="en-US" dirty="0">
                          <a:latin typeface="Times New Roman" pitchFamily="18" charset="0"/>
                          <a:cs typeface="Times New Roman" pitchFamily="18" charset="0"/>
                        </a:rPr>
                        <a:t> may vary based on server load and hardware constraints.</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pic>
        <p:nvPicPr>
          <p:cNvPr id="3" name="Picture 2" descr="A logo for a college of engineering&#10;&#10;AI-generated content may be incorrect.">
            <a:extLst>
              <a:ext uri="{FF2B5EF4-FFF2-40B4-BE49-F238E27FC236}">
                <a16:creationId xmlns:a16="http://schemas.microsoft.com/office/drawing/2014/main" id="{A1C3672A-FD04-5BCB-7D66-4B419409DF5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094" y="77333"/>
            <a:ext cx="25527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675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762794" y="50502"/>
            <a:ext cx="5518484" cy="409141"/>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200" b="1" dirty="0">
                <a:solidFill>
                  <a:srgbClr val="7030A0"/>
                </a:solidFill>
                <a:latin typeface="Times New Roman" panose="02020603050405020304" pitchFamily="18" charset="0"/>
                <a:cs typeface="Times New Roman" panose="02020603050405020304" pitchFamily="18" charset="0"/>
              </a:rPr>
              <a:t>LITERATURE SURVEY</a:t>
            </a:r>
            <a:endParaRPr lang="en-IN" sz="3200" b="1" dirty="0">
              <a:solidFill>
                <a:srgbClr val="7030A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037650801"/>
              </p:ext>
            </p:extLst>
          </p:nvPr>
        </p:nvGraphicFramePr>
        <p:xfrm>
          <a:off x="509905" y="804580"/>
          <a:ext cx="11400156" cy="5852160"/>
        </p:xfrm>
        <a:graphic>
          <a:graphicData uri="http://schemas.openxmlformats.org/drawingml/2006/table">
            <a:tbl>
              <a:tblPr firstRow="1" bandRow="1">
                <a:tableStyleId>{5C22544A-7EE6-4342-B048-85BDC9FD1C3A}</a:tableStyleId>
              </a:tblPr>
              <a:tblGrid>
                <a:gridCol w="708343">
                  <a:extLst>
                    <a:ext uri="{9D8B030D-6E8A-4147-A177-3AD203B41FA5}">
                      <a16:colId xmlns:a16="http://schemas.microsoft.com/office/drawing/2014/main" val="20000"/>
                    </a:ext>
                  </a:extLst>
                </a:gridCol>
                <a:gridCol w="3718560">
                  <a:extLst>
                    <a:ext uri="{9D8B030D-6E8A-4147-A177-3AD203B41FA5}">
                      <a16:colId xmlns:a16="http://schemas.microsoft.com/office/drawing/2014/main" val="20001"/>
                    </a:ext>
                  </a:extLst>
                </a:gridCol>
                <a:gridCol w="3849688">
                  <a:extLst>
                    <a:ext uri="{9D8B030D-6E8A-4147-A177-3AD203B41FA5}">
                      <a16:colId xmlns:a16="http://schemas.microsoft.com/office/drawing/2014/main" val="20002"/>
                    </a:ext>
                  </a:extLst>
                </a:gridCol>
                <a:gridCol w="3123565">
                  <a:extLst>
                    <a:ext uri="{9D8B030D-6E8A-4147-A177-3AD203B41FA5}">
                      <a16:colId xmlns:a16="http://schemas.microsoft.com/office/drawing/2014/main" val="20003"/>
                    </a:ext>
                  </a:extLst>
                </a:gridCol>
              </a:tblGrid>
              <a:tr h="34149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Sl.no</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itchFamily="18" charset="0"/>
                          <a:cs typeface="Times New Roman" pitchFamily="18" charset="0"/>
                        </a:rPr>
                        <a:t>Title,Author,Year</a:t>
                      </a:r>
                      <a:endParaRPr lang="en-US" sz="1800"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Summary</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Limitation/Gaps</a:t>
                      </a:r>
                    </a:p>
                  </a:txBody>
                  <a:tcPr/>
                </a:tc>
                <a:extLst>
                  <a:ext uri="{0D108BD9-81ED-4DB2-BD59-A6C34878D82A}">
                    <a16:rowId xmlns:a16="http://schemas.microsoft.com/office/drawing/2014/main" val="10000"/>
                  </a:ext>
                </a:extLst>
              </a:tr>
              <a:tr h="2134321">
                <a:tc>
                  <a:txBody>
                    <a:bodyPr/>
                    <a:lstStyle/>
                    <a:p>
                      <a:pPr algn="ctr"/>
                      <a:r>
                        <a:rPr lang="en-IN" dirty="0"/>
                        <a:t>4.</a:t>
                      </a:r>
                    </a:p>
                  </a:txBody>
                  <a:tcPr/>
                </a:tc>
                <a:tc>
                  <a:txBody>
                    <a:bodyPr/>
                    <a:lstStyle/>
                    <a:p>
                      <a:r>
                        <a:rPr lang="en-IN" dirty="0">
                          <a:latin typeface="Times New Roman" pitchFamily="18" charset="0"/>
                          <a:cs typeface="Times New Roman" pitchFamily="18" charset="0"/>
                        </a:rPr>
                        <a:t>“</a:t>
                      </a:r>
                      <a:r>
                        <a:rPr lang="en-US" dirty="0">
                          <a:latin typeface="Times New Roman" pitchFamily="18" charset="0"/>
                          <a:cs typeface="Times New Roman" pitchFamily="18" charset="0"/>
                        </a:rPr>
                        <a:t>An Interactive Question-Answering System using Large Language Model and Retrieval-Augmented Generation in an Intelligent Tutoring System on the Programming Domain”</a:t>
                      </a:r>
                    </a:p>
                    <a:p>
                      <a:r>
                        <a:rPr lang="en-US" sz="1800" kern="1200" dirty="0">
                          <a:effectLst/>
                          <a:latin typeface="Times New Roman" pitchFamily="18" charset="0"/>
                          <a:cs typeface="Times New Roman" pitchFamily="18" charset="0"/>
                        </a:rPr>
                        <a:t>Author: </a:t>
                      </a:r>
                      <a:r>
                        <a:rPr lang="en-US" dirty="0">
                          <a:latin typeface="Times New Roman" pitchFamily="18" charset="0"/>
                          <a:cs typeface="Times New Roman" pitchFamily="18" charset="0"/>
                        </a:rPr>
                        <a:t>Owen Christian </a:t>
                      </a:r>
                      <a:r>
                        <a:rPr lang="en-US" dirty="0" err="1">
                          <a:latin typeface="Times New Roman" pitchFamily="18" charset="0"/>
                          <a:cs typeface="Times New Roman" pitchFamily="18" charset="0"/>
                        </a:rPr>
                        <a:t>Wijaya</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Ayu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Purwarianti</a:t>
                      </a:r>
                      <a:r>
                        <a:rPr lang="en-US" dirty="0">
                          <a:latin typeface="Times New Roman" pitchFamily="18" charset="0"/>
                          <a:cs typeface="Times New Roman" pitchFamily="18" charset="0"/>
                        </a:rPr>
                        <a:t>.</a:t>
                      </a:r>
                    </a:p>
                    <a:p>
                      <a:r>
                        <a:rPr lang="en-US" sz="1800" kern="1200" dirty="0">
                          <a:effectLst/>
                          <a:latin typeface="Times New Roman" pitchFamily="18" charset="0"/>
                          <a:cs typeface="Times New Roman" pitchFamily="18" charset="0"/>
                        </a:rPr>
                        <a:t>Year:2023</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A web-based intelligent tutoring system for programming combines LLMs with RAG to provide contextual </a:t>
                      </a:r>
                      <a:r>
                        <a:rPr lang="en-US" dirty="0" err="1">
                          <a:latin typeface="Times New Roman" pitchFamily="18" charset="0"/>
                          <a:cs typeface="Times New Roman" pitchFamily="18" charset="0"/>
                        </a:rPr>
                        <a:t>responses.Built</a:t>
                      </a:r>
                      <a:r>
                        <a:rPr lang="en-US" dirty="0">
                          <a:latin typeface="Times New Roman" pitchFamily="18" charset="0"/>
                          <a:cs typeface="Times New Roman" pitchFamily="18" charset="0"/>
                        </a:rPr>
                        <a:t> using </a:t>
                      </a:r>
                      <a:r>
                        <a:rPr lang="en-US" dirty="0" err="1">
                          <a:latin typeface="Times New Roman" pitchFamily="18" charset="0"/>
                          <a:cs typeface="Times New Roman" pitchFamily="18" charset="0"/>
                        </a:rPr>
                        <a:t>LangChain</a:t>
                      </a:r>
                      <a:r>
                        <a:rPr lang="en-US" dirty="0">
                          <a:latin typeface="Times New Roman" pitchFamily="18" charset="0"/>
                          <a:cs typeface="Times New Roman" pitchFamily="18" charset="0"/>
                        </a:rPr>
                        <a:t>, it uses a history-aware retriever, </a:t>
                      </a:r>
                      <a:r>
                        <a:rPr lang="en-US" dirty="0" err="1">
                          <a:latin typeface="Times New Roman" pitchFamily="18" charset="0"/>
                          <a:cs typeface="Times New Roman" pitchFamily="18" charset="0"/>
                        </a:rPr>
                        <a:t>Redis</a:t>
                      </a:r>
                      <a:r>
                        <a:rPr lang="en-US" dirty="0">
                          <a:latin typeface="Times New Roman" pitchFamily="18" charset="0"/>
                          <a:cs typeface="Times New Roman" pitchFamily="18" charset="0"/>
                        </a:rPr>
                        <a:t> memory, and CO-STAR prompt design for improved interaction.</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System performance depends on model selection and may vary across </a:t>
                      </a:r>
                      <a:r>
                        <a:rPr lang="en-US" dirty="0" err="1">
                          <a:latin typeface="Times New Roman" pitchFamily="18" charset="0"/>
                          <a:cs typeface="Times New Roman" pitchFamily="18" charset="0"/>
                        </a:rPr>
                        <a:t>tasks.Lacks</a:t>
                      </a:r>
                      <a:r>
                        <a:rPr lang="en-US" dirty="0">
                          <a:latin typeface="Times New Roman" pitchFamily="18" charset="0"/>
                          <a:cs typeface="Times New Roman" pitchFamily="18" charset="0"/>
                        </a:rPr>
                        <a:t> integration of code execution or real-time feedback features for hands-on learning.</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878203">
                <a:tc>
                  <a:txBody>
                    <a:bodyPr/>
                    <a:lstStyle/>
                    <a:p>
                      <a:pPr algn="ctr"/>
                      <a:r>
                        <a:rPr lang="en-IN" dirty="0"/>
                        <a:t>5.</a:t>
                      </a:r>
                    </a:p>
                  </a:txBody>
                  <a:tcPr/>
                </a:tc>
                <a:tc>
                  <a:txBody>
                    <a:bodyPr/>
                    <a:lstStyle/>
                    <a:p>
                      <a:r>
                        <a:rPr lang="en-IN" dirty="0">
                          <a:latin typeface="Times New Roman" pitchFamily="18" charset="0"/>
                          <a:cs typeface="Times New Roman" pitchFamily="18" charset="0"/>
                        </a:rPr>
                        <a:t>“</a:t>
                      </a:r>
                      <a:r>
                        <a:rPr lang="en-US" dirty="0">
                          <a:latin typeface="Times New Roman" pitchFamily="18" charset="0"/>
                          <a:cs typeface="Times New Roman" pitchFamily="18" charset="0"/>
                        </a:rPr>
                        <a:t>Unleashing AI in Education: A Pre-Trained LLMs for Accurate and Efficient Question-Answering Systems”</a:t>
                      </a:r>
                    </a:p>
                    <a:p>
                      <a:r>
                        <a:rPr lang="en-US" sz="1800" kern="1200" dirty="0">
                          <a:effectLst/>
                          <a:latin typeface="Times New Roman" pitchFamily="18" charset="0"/>
                          <a:cs typeface="Times New Roman" pitchFamily="18" charset="0"/>
                        </a:rPr>
                        <a:t>Author: </a:t>
                      </a:r>
                      <a:r>
                        <a:rPr lang="en-IN" dirty="0">
                          <a:latin typeface="Times New Roman" pitchFamily="18" charset="0"/>
                          <a:cs typeface="Times New Roman" pitchFamily="18" charset="0"/>
                        </a:rPr>
                        <a:t>Josie C. </a:t>
                      </a:r>
                      <a:r>
                        <a:rPr lang="en-IN" dirty="0" err="1">
                          <a:latin typeface="Times New Roman" pitchFamily="18" charset="0"/>
                          <a:cs typeface="Times New Roman" pitchFamily="18" charset="0"/>
                        </a:rPr>
                        <a:t>Calfoforo</a:t>
                      </a:r>
                      <a:endParaRPr lang="en-IN" dirty="0">
                        <a:latin typeface="Times New Roman" pitchFamily="18" charset="0"/>
                        <a:cs typeface="Times New Roman" pitchFamily="18" charset="0"/>
                      </a:endParaRPr>
                    </a:p>
                    <a:p>
                      <a:r>
                        <a:rPr lang="en-US" sz="1800" kern="1200" dirty="0">
                          <a:effectLst/>
                          <a:latin typeface="Times New Roman" pitchFamily="18" charset="0"/>
                          <a:cs typeface="Times New Roman" pitchFamily="18" charset="0"/>
                        </a:rPr>
                        <a:t>Year:2022</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The system integrates RAG, </a:t>
                      </a:r>
                      <a:r>
                        <a:rPr lang="en-US" dirty="0" err="1">
                          <a:latin typeface="Times New Roman" pitchFamily="18" charset="0"/>
                          <a:cs typeface="Times New Roman" pitchFamily="18" charset="0"/>
                        </a:rPr>
                        <a:t>LangChain</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QLoRA</a:t>
                      </a:r>
                      <a:r>
                        <a:rPr lang="en-US" dirty="0">
                          <a:latin typeface="Times New Roman" pitchFamily="18" charset="0"/>
                          <a:cs typeface="Times New Roman" pitchFamily="18" charset="0"/>
                        </a:rPr>
                        <a:t> for efficient, accurate question answering from policy </a:t>
                      </a:r>
                      <a:r>
                        <a:rPr lang="en-US" dirty="0" err="1">
                          <a:latin typeface="Times New Roman" pitchFamily="18" charset="0"/>
                          <a:cs typeface="Times New Roman" pitchFamily="18" charset="0"/>
                        </a:rPr>
                        <a:t>PDFs.It</a:t>
                      </a:r>
                      <a:r>
                        <a:rPr lang="en-US" dirty="0">
                          <a:latin typeface="Times New Roman" pitchFamily="18" charset="0"/>
                          <a:cs typeface="Times New Roman" pitchFamily="18" charset="0"/>
                        </a:rPr>
                        <a:t> supports conversational queries with context retention and provides source document references for transparency.</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Focus is limited to policy-related documents, restricting wider academic applicability.</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Expansion to other domains and complex queries is needed for broader use.</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109847">
                <a:tc>
                  <a:txBody>
                    <a:bodyPr/>
                    <a:lstStyle/>
                    <a:p>
                      <a:pPr algn="ctr"/>
                      <a:r>
                        <a:rPr lang="en-IN" dirty="0"/>
                        <a:t>6.</a:t>
                      </a:r>
                    </a:p>
                  </a:txBody>
                  <a:tcPr/>
                </a:tc>
                <a:tc>
                  <a:txBody>
                    <a:bodyPr/>
                    <a:lstStyle/>
                    <a:p>
                      <a:r>
                        <a:rPr lang="en-IN" dirty="0">
                          <a:latin typeface="Times New Roman" pitchFamily="18" charset="0"/>
                          <a:cs typeface="Times New Roman" pitchFamily="18" charset="0"/>
                        </a:rPr>
                        <a:t>“</a:t>
                      </a:r>
                      <a:r>
                        <a:rPr lang="en-US" dirty="0">
                          <a:latin typeface="Times New Roman" pitchFamily="18" charset="0"/>
                          <a:cs typeface="Times New Roman" pitchFamily="18" charset="0"/>
                        </a:rPr>
                        <a:t>RAG based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using LLMs”</a:t>
                      </a:r>
                    </a:p>
                    <a:p>
                      <a:r>
                        <a:rPr lang="en-US" sz="1800" kern="1200" dirty="0">
                          <a:effectLst/>
                          <a:latin typeface="Times New Roman" pitchFamily="18" charset="0"/>
                          <a:cs typeface="Times New Roman" pitchFamily="18" charset="0"/>
                        </a:rPr>
                        <a:t>Author: </a:t>
                      </a:r>
                      <a:r>
                        <a:rPr lang="en-US" dirty="0" err="1">
                          <a:latin typeface="Times New Roman" pitchFamily="18" charset="0"/>
                          <a:cs typeface="Times New Roman" pitchFamily="18" charset="0"/>
                        </a:rPr>
                        <a:t>Ananya</a:t>
                      </a:r>
                      <a:r>
                        <a:rPr lang="en-US" dirty="0">
                          <a:latin typeface="Times New Roman" pitchFamily="18" charset="0"/>
                          <a:cs typeface="Times New Roman" pitchFamily="18" charset="0"/>
                        </a:rPr>
                        <a:t> G and Dr. Vanishree </a:t>
                      </a:r>
                      <a:r>
                        <a:rPr lang="en-US" sz="1800" kern="1200" dirty="0">
                          <a:effectLst/>
                          <a:latin typeface="Times New Roman" pitchFamily="18" charset="0"/>
                          <a:cs typeface="Times New Roman" pitchFamily="18" charset="0"/>
                        </a:rPr>
                        <a:t>Year:2023</a:t>
                      </a:r>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combines RAG and LLMs to answer PDF-based queries with real-time interaction and improved efficiency.</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Performance depends on PDF quality and requires careful tuning of reinforcement learning.</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pic>
        <p:nvPicPr>
          <p:cNvPr id="3" name="Picture 2" descr="A logo for a college of engineering&#10;&#10;AI-generated content may be incorrect.">
            <a:extLst>
              <a:ext uri="{FF2B5EF4-FFF2-40B4-BE49-F238E27FC236}">
                <a16:creationId xmlns:a16="http://schemas.microsoft.com/office/drawing/2014/main" id="{95B1F2A9-3154-3E0D-6062-02DE7D1C21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0990"/>
            <a:ext cx="2322954" cy="866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767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762794" y="-98032"/>
            <a:ext cx="5518484" cy="569494"/>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200" b="1" dirty="0">
                <a:solidFill>
                  <a:srgbClr val="7030A0"/>
                </a:solidFill>
                <a:latin typeface="Times New Roman" panose="02020603050405020304" pitchFamily="18" charset="0"/>
                <a:cs typeface="Times New Roman" panose="02020603050405020304" pitchFamily="18" charset="0"/>
              </a:rPr>
              <a:t>LITERATURE SURVEY</a:t>
            </a:r>
            <a:endParaRPr lang="en-IN" sz="3200" b="1" dirty="0">
              <a:solidFill>
                <a:srgbClr val="7030A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604971284"/>
              </p:ext>
            </p:extLst>
          </p:nvPr>
        </p:nvGraphicFramePr>
        <p:xfrm>
          <a:off x="357505" y="1136650"/>
          <a:ext cx="11290300" cy="5134610"/>
        </p:xfrm>
        <a:graphic>
          <a:graphicData uri="http://schemas.openxmlformats.org/drawingml/2006/table">
            <a:tbl>
              <a:tblPr firstRow="1" bandRow="1">
                <a:tableStyleId>{5C22544A-7EE6-4342-B048-85BDC9FD1C3A}</a:tableStyleId>
              </a:tblPr>
              <a:tblGrid>
                <a:gridCol w="688975">
                  <a:extLst>
                    <a:ext uri="{9D8B030D-6E8A-4147-A177-3AD203B41FA5}">
                      <a16:colId xmlns:a16="http://schemas.microsoft.com/office/drawing/2014/main" val="20000"/>
                    </a:ext>
                  </a:extLst>
                </a:gridCol>
                <a:gridCol w="3667760">
                  <a:extLst>
                    <a:ext uri="{9D8B030D-6E8A-4147-A177-3AD203B41FA5}">
                      <a16:colId xmlns:a16="http://schemas.microsoft.com/office/drawing/2014/main" val="20001"/>
                    </a:ext>
                  </a:extLst>
                </a:gridCol>
                <a:gridCol w="3769360">
                  <a:extLst>
                    <a:ext uri="{9D8B030D-6E8A-4147-A177-3AD203B41FA5}">
                      <a16:colId xmlns:a16="http://schemas.microsoft.com/office/drawing/2014/main" val="20002"/>
                    </a:ext>
                  </a:extLst>
                </a:gridCol>
                <a:gridCol w="3164205">
                  <a:extLst>
                    <a:ext uri="{9D8B030D-6E8A-4147-A177-3AD203B41FA5}">
                      <a16:colId xmlns:a16="http://schemas.microsoft.com/office/drawing/2014/main" val="20003"/>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Sl.no</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itchFamily="18" charset="0"/>
                          <a:cs typeface="Times New Roman" pitchFamily="18" charset="0"/>
                        </a:rPr>
                        <a:t>Title,Author,Year</a:t>
                      </a:r>
                      <a:endParaRPr lang="en-US" sz="1800"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Summary</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Limitation/Gaps</a:t>
                      </a:r>
                    </a:p>
                  </a:txBody>
                  <a:tcPr/>
                </a:tc>
                <a:extLst>
                  <a:ext uri="{0D108BD9-81ED-4DB2-BD59-A6C34878D82A}">
                    <a16:rowId xmlns:a16="http://schemas.microsoft.com/office/drawing/2014/main" val="10000"/>
                  </a:ext>
                </a:extLst>
              </a:tr>
              <a:tr h="1276350">
                <a:tc>
                  <a:txBody>
                    <a:bodyPr/>
                    <a:lstStyle/>
                    <a:p>
                      <a:pPr algn="ctr"/>
                      <a:r>
                        <a:rPr lang="en-IN" dirty="0"/>
                        <a:t>7.</a:t>
                      </a:r>
                    </a:p>
                  </a:txBody>
                  <a:tcPr/>
                </a:tc>
                <a:tc>
                  <a:txBody>
                    <a:bodyPr/>
                    <a:lstStyle/>
                    <a:p>
                      <a:r>
                        <a:rPr lang="en-IN" dirty="0">
                          <a:latin typeface="Times New Roman" pitchFamily="18" charset="0"/>
                          <a:cs typeface="Times New Roman" pitchFamily="18" charset="0"/>
                        </a:rPr>
                        <a:t>“</a:t>
                      </a:r>
                      <a:r>
                        <a:rPr lang="en-US" dirty="0" err="1">
                          <a:latin typeface="Times New Roman" pitchFamily="18" charset="0"/>
                          <a:cs typeface="Times New Roman" pitchFamily="18" charset="0"/>
                        </a:rPr>
                        <a:t>ScrapeTalk</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Conversation with Web Scraped Insights”</a:t>
                      </a:r>
                    </a:p>
                    <a:p>
                      <a:r>
                        <a:rPr lang="en-US" sz="1800" kern="1200" dirty="0">
                          <a:effectLst/>
                          <a:latin typeface="Times New Roman" pitchFamily="18" charset="0"/>
                          <a:cs typeface="Times New Roman" pitchFamily="18" charset="0"/>
                        </a:rPr>
                        <a:t>Author: </a:t>
                      </a:r>
                      <a:r>
                        <a:rPr lang="pt-BR" dirty="0">
                          <a:latin typeface="Times New Roman" pitchFamily="18" charset="0"/>
                          <a:cs typeface="Times New Roman" pitchFamily="18" charset="0"/>
                        </a:rPr>
                        <a:t>Sriram G, Adaline Suji R.</a:t>
                      </a:r>
                    </a:p>
                    <a:p>
                      <a:r>
                        <a:rPr lang="en-US" sz="1800" kern="1200" dirty="0">
                          <a:effectLst/>
                          <a:latin typeface="Times New Roman" pitchFamily="18" charset="0"/>
                          <a:cs typeface="Times New Roman" pitchFamily="18" charset="0"/>
                        </a:rPr>
                        <a:t>Year:</a:t>
                      </a:r>
                      <a:endParaRPr lang="en-IN" dirty="0">
                        <a:latin typeface="Times New Roman" pitchFamily="18" charset="0"/>
                        <a:cs typeface="Times New Roman" pitchFamily="18" charset="0"/>
                      </a:endParaRPr>
                    </a:p>
                  </a:txBody>
                  <a:tcPr/>
                </a:tc>
                <a:tc>
                  <a:txBody>
                    <a:bodyPr/>
                    <a:lstStyle/>
                    <a:p>
                      <a:r>
                        <a:rPr lang="en-US" dirty="0" err="1">
                          <a:latin typeface="Times New Roman" pitchFamily="18" charset="0"/>
                          <a:cs typeface="Times New Roman" pitchFamily="18" charset="0"/>
                        </a:rPr>
                        <a:t>ScrapeTalk</a:t>
                      </a:r>
                      <a:r>
                        <a:rPr lang="en-US" dirty="0">
                          <a:latin typeface="Times New Roman" pitchFamily="18" charset="0"/>
                          <a:cs typeface="Times New Roman" pitchFamily="18" charset="0"/>
                        </a:rPr>
                        <a:t> is a RAG-based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that uses web scraping and GPT-3.5 to deliver real-time, context-aware answers.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Reliance on live web data may affect accuracy and performance due to changing or inaccessible web content.</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824990">
                <a:tc>
                  <a:txBody>
                    <a:bodyPr/>
                    <a:lstStyle/>
                    <a:p>
                      <a:pPr algn="ctr"/>
                      <a:r>
                        <a:rPr lang="en-IN" dirty="0"/>
                        <a:t>8.</a:t>
                      </a:r>
                    </a:p>
                  </a:txBody>
                  <a:tcPr/>
                </a:tc>
                <a:tc>
                  <a:txBody>
                    <a:bodyPr/>
                    <a:lstStyle/>
                    <a:p>
                      <a:r>
                        <a:rPr lang="en-IN" dirty="0">
                          <a:latin typeface="Times New Roman" pitchFamily="18" charset="0"/>
                          <a:cs typeface="Times New Roman" pitchFamily="18" charset="0"/>
                        </a:rPr>
                        <a:t>“</a:t>
                      </a:r>
                      <a:r>
                        <a:rPr lang="en-US" dirty="0">
                          <a:latin typeface="Times New Roman" pitchFamily="18" charset="0"/>
                          <a:cs typeface="Times New Roman" pitchFamily="18" charset="0"/>
                        </a:rPr>
                        <a:t>Enhancing Question-Answering with Knowledge Graph Retrieval and Generation using LLMs”</a:t>
                      </a:r>
                      <a:br>
                        <a:rPr lang="en-US" dirty="0">
                          <a:latin typeface="Times New Roman" pitchFamily="18" charset="0"/>
                          <a:cs typeface="Times New Roman" pitchFamily="18" charset="0"/>
                        </a:rPr>
                      </a:br>
                      <a:r>
                        <a:rPr lang="en-US" sz="1800" kern="1200" dirty="0">
                          <a:effectLst/>
                          <a:latin typeface="Times New Roman" pitchFamily="18" charset="0"/>
                          <a:cs typeface="Times New Roman" pitchFamily="18" charset="0"/>
                        </a:rPr>
                        <a:t>Author: </a:t>
                      </a:r>
                      <a:r>
                        <a:rPr lang="en-IN" dirty="0" err="1">
                          <a:latin typeface="Times New Roman" pitchFamily="18" charset="0"/>
                          <a:cs typeface="Times New Roman" pitchFamily="18" charset="0"/>
                        </a:rPr>
                        <a:t>Supraj</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Gijre</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Priyash</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Laddha</a:t>
                      </a:r>
                      <a:r>
                        <a:rPr lang="en-IN" dirty="0">
                          <a:latin typeface="Times New Roman" pitchFamily="18" charset="0"/>
                          <a:cs typeface="Times New Roman" pitchFamily="18" charset="0"/>
                        </a:rPr>
                        <a:t>.</a:t>
                      </a:r>
                    </a:p>
                    <a:p>
                      <a:r>
                        <a:rPr lang="en-US" sz="1800" kern="1200" dirty="0">
                          <a:effectLst/>
                          <a:latin typeface="Times New Roman" pitchFamily="18" charset="0"/>
                          <a:cs typeface="Times New Roman" pitchFamily="18" charset="0"/>
                        </a:rPr>
                        <a:t>Year:</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The system combines RAG with knowledge graphs and LLMs to improve accuracy and context in document-based QA.</a:t>
                      </a:r>
                      <a:endParaRPr lang="en-IN"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Building and maintaining knowledge graphs adds complexity and may not scale easily across diverse domains.</a:t>
                      </a:r>
                    </a:p>
                    <a:p>
                      <a:endParaRPr lang="en-IN" dirty="0"/>
                    </a:p>
                  </a:txBody>
                  <a:tcPr/>
                </a:tc>
                <a:extLst>
                  <a:ext uri="{0D108BD9-81ED-4DB2-BD59-A6C34878D82A}">
                    <a16:rowId xmlns:a16="http://schemas.microsoft.com/office/drawing/2014/main" val="10002"/>
                  </a:ext>
                </a:extLst>
              </a:tr>
              <a:tr h="1662430">
                <a:tc>
                  <a:txBody>
                    <a:bodyPr/>
                    <a:lstStyle/>
                    <a:p>
                      <a:pPr algn="ctr"/>
                      <a:r>
                        <a:rPr lang="en-IN" dirty="0"/>
                        <a:t>9.</a:t>
                      </a:r>
                    </a:p>
                  </a:txBody>
                  <a:tcPr/>
                </a:tc>
                <a:tc>
                  <a:txBody>
                    <a:bodyPr/>
                    <a:lstStyle/>
                    <a:p>
                      <a:r>
                        <a:rPr lang="en-IN" dirty="0">
                          <a:latin typeface="Times New Roman" pitchFamily="18" charset="0"/>
                          <a:cs typeface="Times New Roman" pitchFamily="18" charset="0"/>
                        </a:rPr>
                        <a:t>“</a:t>
                      </a:r>
                      <a:r>
                        <a:rPr lang="en-US" dirty="0">
                          <a:latin typeface="Times New Roman" pitchFamily="18" charset="0"/>
                          <a:cs typeface="Times New Roman" pitchFamily="18" charset="0"/>
                        </a:rPr>
                        <a:t>Retrieval Augmented Generation Approach for </a:t>
                      </a:r>
                      <a:r>
                        <a:rPr lang="en-US" dirty="0" err="1">
                          <a:latin typeface="Times New Roman" pitchFamily="18" charset="0"/>
                          <a:cs typeface="Times New Roman" pitchFamily="18" charset="0"/>
                        </a:rPr>
                        <a:t>Multipdf</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using </a:t>
                      </a:r>
                      <a:r>
                        <a:rPr lang="en-US" dirty="0" err="1">
                          <a:latin typeface="Times New Roman" pitchFamily="18" charset="0"/>
                          <a:cs typeface="Times New Roman" pitchFamily="18" charset="0"/>
                        </a:rPr>
                        <a:t>LangChain</a:t>
                      </a:r>
                      <a:r>
                        <a:rPr lang="en-US" dirty="0">
                          <a:latin typeface="Times New Roman" pitchFamily="18" charset="0"/>
                          <a:cs typeface="Times New Roman" pitchFamily="18" charset="0"/>
                        </a:rPr>
                        <a:t>”</a:t>
                      </a:r>
                    </a:p>
                    <a:p>
                      <a:r>
                        <a:rPr lang="en-US" sz="1800" kern="1200" dirty="0">
                          <a:effectLst/>
                          <a:latin typeface="Times New Roman" pitchFamily="18" charset="0"/>
                          <a:cs typeface="Times New Roman" pitchFamily="18" charset="0"/>
                        </a:rPr>
                        <a:t>Author:</a:t>
                      </a:r>
                      <a:r>
                        <a:rPr lang="en-IN" dirty="0" err="1">
                          <a:latin typeface="Times New Roman" pitchFamily="18" charset="0"/>
                          <a:cs typeface="Times New Roman" pitchFamily="18" charset="0"/>
                        </a:rPr>
                        <a:t>Anuj</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Jaiswal</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Aakash</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Jha</a:t>
                      </a:r>
                      <a:r>
                        <a:rPr lang="pt-BR" dirty="0">
                          <a:latin typeface="Times New Roman" pitchFamily="18" charset="0"/>
                          <a:cs typeface="Times New Roman" pitchFamily="18" charset="0"/>
                        </a:rPr>
                        <a:t>.</a:t>
                      </a:r>
                    </a:p>
                    <a:p>
                      <a:r>
                        <a:rPr lang="en-US" sz="1800" kern="1200" dirty="0">
                          <a:effectLst/>
                          <a:latin typeface="Times New Roman" pitchFamily="18" charset="0"/>
                          <a:cs typeface="Times New Roman" pitchFamily="18" charset="0"/>
                        </a:rPr>
                        <a:t>Year:</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uses RAG with </a:t>
                      </a:r>
                      <a:r>
                        <a:rPr lang="en-US" dirty="0" err="1">
                          <a:latin typeface="Times New Roman" pitchFamily="18" charset="0"/>
                          <a:cs typeface="Times New Roman" pitchFamily="18" charset="0"/>
                        </a:rPr>
                        <a:t>LangChain</a:t>
                      </a:r>
                      <a:r>
                        <a:rPr lang="en-US" dirty="0">
                          <a:latin typeface="Times New Roman" pitchFamily="18" charset="0"/>
                          <a:cs typeface="Times New Roman" pitchFamily="18" charset="0"/>
                        </a:rPr>
                        <a:t> and Gemini Pro to enable interactive querying across multiple PDFs.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Its effectiveness depends on PDF quality and may be affected by inherent biases in the generative model.</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pic>
        <p:nvPicPr>
          <p:cNvPr id="3" name="Picture 2" descr="A logo for a college of engineering&#10;&#10;AI-generated content may be incorrect.">
            <a:extLst>
              <a:ext uri="{FF2B5EF4-FFF2-40B4-BE49-F238E27FC236}">
                <a16:creationId xmlns:a16="http://schemas.microsoft.com/office/drawing/2014/main" id="{EFD74B97-8BA0-8E1A-1C35-3B55B3A0D4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094" y="77333"/>
            <a:ext cx="25527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982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762794" y="7746"/>
            <a:ext cx="5518484" cy="569494"/>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200" b="1" dirty="0">
                <a:solidFill>
                  <a:srgbClr val="7030A0"/>
                </a:solidFill>
                <a:latin typeface="Times New Roman" panose="02020603050405020304" pitchFamily="18" charset="0"/>
                <a:cs typeface="Times New Roman" panose="02020603050405020304" pitchFamily="18" charset="0"/>
              </a:rPr>
              <a:t>LITERATURE SURVEY</a:t>
            </a:r>
            <a:endParaRPr lang="en-IN" sz="3200" b="1" dirty="0">
              <a:solidFill>
                <a:srgbClr val="7030A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982870648"/>
              </p:ext>
            </p:extLst>
          </p:nvPr>
        </p:nvGraphicFramePr>
        <p:xfrm>
          <a:off x="327024" y="1018591"/>
          <a:ext cx="11576953" cy="5852160"/>
        </p:xfrm>
        <a:graphic>
          <a:graphicData uri="http://schemas.openxmlformats.org/drawingml/2006/table">
            <a:tbl>
              <a:tblPr firstRow="1" bandRow="1">
                <a:tableStyleId>{5C22544A-7EE6-4342-B048-85BDC9FD1C3A}</a:tableStyleId>
              </a:tblPr>
              <a:tblGrid>
                <a:gridCol w="716886">
                  <a:extLst>
                    <a:ext uri="{9D8B030D-6E8A-4147-A177-3AD203B41FA5}">
                      <a16:colId xmlns:a16="http://schemas.microsoft.com/office/drawing/2014/main" val="20000"/>
                    </a:ext>
                  </a:extLst>
                </a:gridCol>
                <a:gridCol w="3646284">
                  <a:extLst>
                    <a:ext uri="{9D8B030D-6E8A-4147-A177-3AD203B41FA5}">
                      <a16:colId xmlns:a16="http://schemas.microsoft.com/office/drawing/2014/main" val="20001"/>
                    </a:ext>
                  </a:extLst>
                </a:gridCol>
                <a:gridCol w="3885897">
                  <a:extLst>
                    <a:ext uri="{9D8B030D-6E8A-4147-A177-3AD203B41FA5}">
                      <a16:colId xmlns:a16="http://schemas.microsoft.com/office/drawing/2014/main" val="20002"/>
                    </a:ext>
                  </a:extLst>
                </a:gridCol>
                <a:gridCol w="3327886">
                  <a:extLst>
                    <a:ext uri="{9D8B030D-6E8A-4147-A177-3AD203B41FA5}">
                      <a16:colId xmlns:a16="http://schemas.microsoft.com/office/drawing/2014/main" val="20003"/>
                    </a:ext>
                  </a:extLst>
                </a:gridCol>
              </a:tblGrid>
              <a:tr h="32589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Sl.no</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itchFamily="18" charset="0"/>
                          <a:cs typeface="Times New Roman" pitchFamily="18" charset="0"/>
                        </a:rPr>
                        <a:t>Title,Author,Year</a:t>
                      </a:r>
                      <a:endParaRPr lang="en-US" sz="1800"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Summary</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Limitation/Gaps</a:t>
                      </a:r>
                    </a:p>
                  </a:txBody>
                  <a:tcPr/>
                </a:tc>
                <a:extLst>
                  <a:ext uri="{0D108BD9-81ED-4DB2-BD59-A6C34878D82A}">
                    <a16:rowId xmlns:a16="http://schemas.microsoft.com/office/drawing/2014/main" val="10000"/>
                  </a:ext>
                </a:extLst>
              </a:tr>
              <a:tr h="2036836">
                <a:tc>
                  <a:txBody>
                    <a:bodyPr/>
                    <a:lstStyle/>
                    <a:p>
                      <a:pPr algn="ctr"/>
                      <a:r>
                        <a:rPr lang="en-IN" dirty="0"/>
                        <a:t>10.</a:t>
                      </a:r>
                    </a:p>
                  </a:txBody>
                  <a:tcPr/>
                </a:tc>
                <a:tc>
                  <a:txBody>
                    <a:bodyPr/>
                    <a:lstStyle/>
                    <a:p>
                      <a:r>
                        <a:rPr lang="en-US" dirty="0">
                          <a:latin typeface="Times New Roman" panose="02020603050405020304" pitchFamily="18" charset="0"/>
                          <a:cs typeface="Times New Roman" panose="02020603050405020304" pitchFamily="18" charset="0"/>
                        </a:rPr>
                        <a:t>"Retrieval-Augmented Generation (RAG) Chatbots for Education: A Survey of Applications“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Author:</a:t>
                      </a:r>
                      <a:r>
                        <a:rPr lang="pl-PL" b="0" dirty="0">
                          <a:latin typeface="Times New Roman" panose="02020603050405020304" pitchFamily="18" charset="0"/>
                          <a:cs typeface="Times New Roman" panose="02020603050405020304" pitchFamily="18" charset="0"/>
                        </a:rPr>
                        <a:t>Jakub Swacha and Michał Gracel</a:t>
                      </a:r>
                      <a:endParaRPr lang="en-IN" b="0" dirty="0">
                        <a:latin typeface="Times New Roman" panose="02020603050405020304" pitchFamily="18" charset="0"/>
                        <a:cs typeface="Times New Roman" panose="02020603050405020304" pitchFamily="18" charset="0"/>
                      </a:endParaRPr>
                    </a:p>
                    <a:p>
                      <a:r>
                        <a:rPr lang="en-IN" b="0" dirty="0">
                          <a:latin typeface="Times New Roman" panose="02020603050405020304" pitchFamily="18" charset="0"/>
                          <a:cs typeface="Times New Roman" panose="02020603050405020304" pitchFamily="18" charset="0"/>
                        </a:rPr>
                        <a:t>Year:2025</a:t>
                      </a:r>
                    </a:p>
                    <a:p>
                      <a:pPr algn="ct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Highlighting their effectiveness in reducing hallucinations by integrating external knowledge. Most chatbots support students across diverse fields like computer science and healthcare. OpenAI’s GPT is commonly used, with limited use of RAGAS for evaluation</a:t>
                      </a:r>
                      <a:r>
                        <a:rPr lang="en-US" dirty="0"/>
                        <a:t>.</a:t>
                      </a:r>
                      <a:endParaRPr lang="en-IN" dirty="0"/>
                    </a:p>
                    <a:p>
                      <a:endParaRPr lang="en-IN"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The study notes a lack of evaluations linked to learning outcomes, limited adoption of standardized metrics like RAG, ethical concerns around privacy, and high deployment costs</a:t>
                      </a:r>
                      <a:r>
                        <a:rPr lang="en-US" dirty="0"/>
                        <a:t>.</a:t>
                      </a:r>
                      <a:endParaRPr lang="en-IN" dirty="0"/>
                    </a:p>
                    <a:p>
                      <a:endParaRPr lang="en-IN" dirty="0"/>
                    </a:p>
                  </a:txBody>
                  <a:tcPr/>
                </a:tc>
                <a:extLst>
                  <a:ext uri="{0D108BD9-81ED-4DB2-BD59-A6C34878D82A}">
                    <a16:rowId xmlns:a16="http://schemas.microsoft.com/office/drawing/2014/main" val="10001"/>
                  </a:ext>
                </a:extLst>
              </a:tr>
              <a:tr h="1547995">
                <a:tc>
                  <a:txBody>
                    <a:bodyPr/>
                    <a:lstStyle/>
                    <a:p>
                      <a:pPr algn="ctr"/>
                      <a:r>
                        <a:rPr lang="en-IN" dirty="0"/>
                        <a:t>11.</a:t>
                      </a:r>
                    </a:p>
                  </a:txBody>
                  <a:tcPr/>
                </a:tc>
                <a:tc>
                  <a:txBody>
                    <a:bodyPr/>
                    <a:lstStyle/>
                    <a:p>
                      <a:r>
                        <a:rPr lang="en-IN" dirty="0">
                          <a:latin typeface="Times New Roman" pitchFamily="18" charset="0"/>
                          <a:cs typeface="Times New Roman" pitchFamily="18" charset="0"/>
                        </a:rPr>
                        <a:t>“</a:t>
                      </a:r>
                      <a:r>
                        <a:rPr lang="en-US" dirty="0">
                          <a:latin typeface="Times New Roman" pitchFamily="18" charset="0"/>
                          <a:cs typeface="Times New Roman" pitchFamily="18" charset="0"/>
                        </a:rPr>
                        <a:t>Optimizing RAG techniques for Automotive industry PDF </a:t>
                      </a:r>
                      <a:r>
                        <a:rPr lang="en-US" dirty="0" err="1">
                          <a:latin typeface="Times New Roman" pitchFamily="18" charset="0"/>
                          <a:cs typeface="Times New Roman" pitchFamily="18" charset="0"/>
                        </a:rPr>
                        <a:t>Chatbots</a:t>
                      </a:r>
                      <a:r>
                        <a:rPr lang="en-US" dirty="0">
                          <a:latin typeface="Times New Roman" pitchFamily="18" charset="0"/>
                          <a:cs typeface="Times New Roman" pitchFamily="18" charset="0"/>
                        </a:rPr>
                        <a:t>: A case Study with Locally Deployed Models”</a:t>
                      </a:r>
                    </a:p>
                    <a:p>
                      <a:r>
                        <a:rPr lang="en-US" sz="1800" kern="1200" dirty="0">
                          <a:effectLst/>
                          <a:latin typeface="Times New Roman" pitchFamily="18" charset="0"/>
                          <a:cs typeface="Times New Roman" pitchFamily="18" charset="0"/>
                        </a:rPr>
                        <a:t>Author: </a:t>
                      </a:r>
                      <a:r>
                        <a:rPr lang="en-IN" dirty="0" err="1">
                          <a:latin typeface="Times New Roman" pitchFamily="18" charset="0"/>
                          <a:cs typeface="Times New Roman" pitchFamily="18" charset="0"/>
                        </a:rPr>
                        <a:t>Kaiyi</a:t>
                      </a:r>
                      <a:r>
                        <a:rPr lang="en-IN" dirty="0">
                          <a:latin typeface="Times New Roman" pitchFamily="18" charset="0"/>
                          <a:cs typeface="Times New Roman" pitchFamily="18" charset="0"/>
                        </a:rPr>
                        <a:t> Zhang</a:t>
                      </a:r>
                      <a:r>
                        <a:rPr lang="pt-BR" dirty="0">
                          <a:latin typeface="Times New Roman" pitchFamily="18" charset="0"/>
                          <a:cs typeface="Times New Roman" pitchFamily="18" charset="0"/>
                        </a:rPr>
                        <a:t>.</a:t>
                      </a:r>
                    </a:p>
                    <a:p>
                      <a:r>
                        <a:rPr lang="en-US" sz="1800" kern="1200" dirty="0">
                          <a:effectLst/>
                          <a:latin typeface="Times New Roman" pitchFamily="18" charset="0"/>
                          <a:cs typeface="Times New Roman" pitchFamily="18" charset="0"/>
                        </a:rPr>
                        <a:t>Year:2025</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The study evaluates LLMs in the context of RAG-based automotive </a:t>
                      </a:r>
                      <a:r>
                        <a:rPr lang="en-US" dirty="0" err="1">
                          <a:latin typeface="Times New Roman" pitchFamily="18" charset="0"/>
                          <a:cs typeface="Times New Roman" pitchFamily="18" charset="0"/>
                        </a:rPr>
                        <a:t>chatbots</a:t>
                      </a:r>
                      <a:r>
                        <a:rPr lang="en-US" dirty="0">
                          <a:latin typeface="Times New Roman" pitchFamily="18" charset="0"/>
                          <a:cs typeface="Times New Roman" pitchFamily="18" charset="0"/>
                        </a:rPr>
                        <a:t>, focusing on their ability to understand and reason through prompts.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Findings reveal that LLMs may produce correct answers without truly grasping prompt logic, especially in multi-step reasoning tasks.</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303575">
                <a:tc>
                  <a:txBody>
                    <a:bodyPr/>
                    <a:lstStyle/>
                    <a:p>
                      <a:pPr algn="ctr"/>
                      <a:r>
                        <a:rPr lang="en-IN" dirty="0"/>
                        <a:t>12.</a:t>
                      </a:r>
                    </a:p>
                  </a:txBody>
                  <a:tcPr/>
                </a:tc>
                <a:tc>
                  <a:txBody>
                    <a:bodyPr/>
                    <a:lstStyle/>
                    <a:p>
                      <a:r>
                        <a:rPr lang="en-IN" dirty="0">
                          <a:latin typeface="Times New Roman" pitchFamily="18" charset="0"/>
                          <a:cs typeface="Times New Roman" pitchFamily="18" charset="0"/>
                        </a:rPr>
                        <a:t>“</a:t>
                      </a:r>
                      <a:r>
                        <a:rPr lang="en-US" dirty="0">
                          <a:latin typeface="Times New Roman" pitchFamily="18" charset="0"/>
                          <a:cs typeface="Times New Roman" pitchFamily="18" charset="0"/>
                        </a:rPr>
                        <a:t>From Questions to Insightful Answers: Building an Informed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for University Resources”</a:t>
                      </a:r>
                    </a:p>
                    <a:p>
                      <a:r>
                        <a:rPr lang="en-US" sz="1800" kern="1200" dirty="0">
                          <a:effectLst/>
                          <a:latin typeface="Times New Roman" pitchFamily="18" charset="0"/>
                          <a:cs typeface="Times New Roman" pitchFamily="18" charset="0"/>
                        </a:rPr>
                        <a:t>Author: </a:t>
                      </a:r>
                      <a:r>
                        <a:rPr lang="en-IN" dirty="0" err="1">
                          <a:latin typeface="Times New Roman" pitchFamily="18" charset="0"/>
                          <a:cs typeface="Times New Roman" pitchFamily="18" charset="0"/>
                        </a:rPr>
                        <a:t>subhash</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Neupane</a:t>
                      </a:r>
                      <a:r>
                        <a:rPr lang="en-IN" dirty="0">
                          <a:latin typeface="Times New Roman" pitchFamily="18" charset="0"/>
                          <a:cs typeface="Times New Roman" pitchFamily="18" charset="0"/>
                        </a:rPr>
                        <a:t>.</a:t>
                      </a:r>
                    </a:p>
                    <a:p>
                      <a:r>
                        <a:rPr lang="en-US" sz="1800" kern="1200" dirty="0">
                          <a:effectLst/>
                          <a:latin typeface="Times New Roman" pitchFamily="18" charset="0"/>
                          <a:cs typeface="Times New Roman" pitchFamily="18" charset="0"/>
                        </a:rPr>
                        <a:t>Year:202</a:t>
                      </a:r>
                      <a:r>
                        <a:rPr lang="en-IN" sz="1800" kern="1200" dirty="0">
                          <a:effectLst/>
                          <a:latin typeface="Times New Roman" pitchFamily="18" charset="0"/>
                          <a:cs typeface="Times New Roman" pitchFamily="18" charset="0"/>
                        </a:rPr>
                        <a:t>4</a:t>
                      </a:r>
                      <a:endParaRPr lang="en-US" sz="1800" kern="1200" dirty="0">
                        <a:effectLst/>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A university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is developed to provide context-aware and user-friendly responses to student queries using NLP and domain-specific knowledge bases.</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Limited multilingual support and lack of integration with mobile apps reduce its accessibility and scalability.</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pic>
        <p:nvPicPr>
          <p:cNvPr id="9" name="Picture 8">
            <a:extLst>
              <a:ext uri="{FF2B5EF4-FFF2-40B4-BE49-F238E27FC236}">
                <a16:creationId xmlns:a16="http://schemas.microsoft.com/office/drawing/2014/main" id="{1F323A85-8FAB-C71A-4D32-6368E31334CE}"/>
              </a:ext>
            </a:extLst>
          </p:cNvPr>
          <p:cNvPicPr>
            <a:picLocks noChangeAspect="1"/>
          </p:cNvPicPr>
          <p:nvPr/>
        </p:nvPicPr>
        <p:blipFill>
          <a:blip r:embed="rId7"/>
          <a:stretch>
            <a:fillRect/>
          </a:stretch>
        </p:blipFill>
        <p:spPr>
          <a:xfrm>
            <a:off x="46582" y="77333"/>
            <a:ext cx="2552700" cy="952500"/>
          </a:xfrm>
          <a:prstGeom prst="rect">
            <a:avLst/>
          </a:prstGeom>
        </p:spPr>
      </p:pic>
    </p:spTree>
    <p:extLst>
      <p:ext uri="{BB962C8B-B14F-4D97-AF65-F5344CB8AC3E}">
        <p14:creationId xmlns:p14="http://schemas.microsoft.com/office/powerpoint/2010/main" val="269717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762794" y="450007"/>
            <a:ext cx="5518484" cy="149423"/>
          </a:xfrm>
        </p:spPr>
        <p:txBody>
          <a:bodyPr>
            <a:noAutofit/>
          </a:bodyPr>
          <a:lstStyle/>
          <a:p>
            <a:pPr algn="ctr"/>
            <a:br>
              <a:rPr lang="en-US" sz="3600" b="1" dirty="0">
                <a:solidFill>
                  <a:srgbClr val="C0108E"/>
                </a:solidFill>
                <a:latin typeface="Times New Roman" pitchFamily="18" charset="0"/>
                <a:cs typeface="Times New Roman" pitchFamily="18" charset="0"/>
              </a:rPr>
            </a:br>
            <a:br>
              <a:rPr lang="en-US" sz="3600" b="1" dirty="0">
                <a:solidFill>
                  <a:srgbClr val="C0108E"/>
                </a:solidFill>
                <a:latin typeface="Times New Roman" pitchFamily="18" charset="0"/>
                <a:cs typeface="Times New Roman" pitchFamily="18" charset="0"/>
              </a:rPr>
            </a:br>
            <a:r>
              <a:rPr lang="en-US" sz="3200" b="1" dirty="0">
                <a:solidFill>
                  <a:srgbClr val="7030A0"/>
                </a:solidFill>
                <a:latin typeface="Times New Roman" panose="02020603050405020304" pitchFamily="18" charset="0"/>
                <a:cs typeface="Times New Roman" panose="02020603050405020304" pitchFamily="18" charset="0"/>
              </a:rPr>
              <a:t>LITERATURE SURVEY</a:t>
            </a:r>
            <a:endParaRPr lang="en-IN" sz="3200" b="1" dirty="0">
              <a:solidFill>
                <a:srgbClr val="7030A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389365720"/>
              </p:ext>
            </p:extLst>
          </p:nvPr>
        </p:nvGraphicFramePr>
        <p:xfrm>
          <a:off x="367665" y="1645920"/>
          <a:ext cx="11290300" cy="4409440"/>
        </p:xfrm>
        <a:graphic>
          <a:graphicData uri="http://schemas.openxmlformats.org/drawingml/2006/table">
            <a:tbl>
              <a:tblPr firstRow="1" bandRow="1">
                <a:tableStyleId>{5C22544A-7EE6-4342-B048-85BDC9FD1C3A}</a:tableStyleId>
              </a:tblPr>
              <a:tblGrid>
                <a:gridCol w="739775">
                  <a:extLst>
                    <a:ext uri="{9D8B030D-6E8A-4147-A177-3AD203B41FA5}">
                      <a16:colId xmlns:a16="http://schemas.microsoft.com/office/drawing/2014/main" val="20000"/>
                    </a:ext>
                  </a:extLst>
                </a:gridCol>
                <a:gridCol w="3495040">
                  <a:extLst>
                    <a:ext uri="{9D8B030D-6E8A-4147-A177-3AD203B41FA5}">
                      <a16:colId xmlns:a16="http://schemas.microsoft.com/office/drawing/2014/main" val="20001"/>
                    </a:ext>
                  </a:extLst>
                </a:gridCol>
                <a:gridCol w="3830320">
                  <a:extLst>
                    <a:ext uri="{9D8B030D-6E8A-4147-A177-3AD203B41FA5}">
                      <a16:colId xmlns:a16="http://schemas.microsoft.com/office/drawing/2014/main" val="20002"/>
                    </a:ext>
                  </a:extLst>
                </a:gridCol>
                <a:gridCol w="3225165">
                  <a:extLst>
                    <a:ext uri="{9D8B030D-6E8A-4147-A177-3AD203B41FA5}">
                      <a16:colId xmlns:a16="http://schemas.microsoft.com/office/drawing/2014/main" val="20003"/>
                    </a:ext>
                  </a:extLst>
                </a:gridCol>
              </a:tblGrid>
              <a:tr h="55245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Sl.no</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itchFamily="18" charset="0"/>
                          <a:cs typeface="Times New Roman" pitchFamily="18" charset="0"/>
                        </a:rPr>
                        <a:t>Title,Author,Year</a:t>
                      </a:r>
                      <a:endParaRPr lang="en-US" sz="1800"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Summary</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Limitation/Gaps</a:t>
                      </a:r>
                    </a:p>
                  </a:txBody>
                  <a:tcPr/>
                </a:tc>
                <a:extLst>
                  <a:ext uri="{0D108BD9-81ED-4DB2-BD59-A6C34878D82A}">
                    <a16:rowId xmlns:a16="http://schemas.microsoft.com/office/drawing/2014/main" val="10000"/>
                  </a:ext>
                </a:extLst>
              </a:tr>
              <a:tr h="1926590">
                <a:tc>
                  <a:txBody>
                    <a:bodyPr/>
                    <a:lstStyle/>
                    <a:p>
                      <a:pPr algn="ctr"/>
                      <a:r>
                        <a:rPr lang="en-IN" dirty="0"/>
                        <a:t>13.</a:t>
                      </a:r>
                    </a:p>
                  </a:txBody>
                  <a:tcPr/>
                </a:tc>
                <a:tc>
                  <a:txBody>
                    <a:bodyPr/>
                    <a:lstStyle/>
                    <a:p>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Unimib</a:t>
                      </a:r>
                      <a:r>
                        <a:rPr lang="en-US" dirty="0">
                          <a:latin typeface="Times New Roman" pitchFamily="18" charset="0"/>
                          <a:cs typeface="Times New Roman" pitchFamily="18" charset="0"/>
                        </a:rPr>
                        <a:t> Assistant: Designing a student-friendly RAG-Based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for all their needs “</a:t>
                      </a:r>
                    </a:p>
                    <a:p>
                      <a:r>
                        <a:rPr lang="en-US" sz="1800" kern="1200" dirty="0">
                          <a:effectLst/>
                          <a:latin typeface="Times New Roman" pitchFamily="18" charset="0"/>
                          <a:cs typeface="Times New Roman" pitchFamily="18" charset="0"/>
                        </a:rPr>
                        <a:t>Author: </a:t>
                      </a:r>
                      <a:r>
                        <a:rPr lang="en-IN" dirty="0">
                          <a:latin typeface="Times New Roman" pitchFamily="18" charset="0"/>
                          <a:cs typeface="Times New Roman" pitchFamily="18" charset="0"/>
                        </a:rPr>
                        <a:t>Chiara </a:t>
                      </a:r>
                      <a:r>
                        <a:rPr lang="en-IN" dirty="0" err="1">
                          <a:latin typeface="Times New Roman" pitchFamily="18" charset="0"/>
                          <a:cs typeface="Times New Roman" pitchFamily="18" charset="0"/>
                        </a:rPr>
                        <a:t>Antico</a:t>
                      </a:r>
                      <a:r>
                        <a:rPr lang="en-IN" dirty="0">
                          <a:latin typeface="Times New Roman" pitchFamily="18" charset="0"/>
                          <a:cs typeface="Times New Roman" pitchFamily="18" charset="0"/>
                        </a:rPr>
                        <a:t>.</a:t>
                      </a:r>
                      <a:endParaRPr lang="pt-BR" dirty="0">
                        <a:latin typeface="Times New Roman" pitchFamily="18" charset="0"/>
                        <a:cs typeface="Times New Roman" pitchFamily="18" charset="0"/>
                      </a:endParaRPr>
                    </a:p>
                    <a:p>
                      <a:r>
                        <a:rPr lang="en-US" sz="1800" kern="1200" dirty="0">
                          <a:effectLst/>
                          <a:latin typeface="Times New Roman" pitchFamily="18" charset="0"/>
                          <a:cs typeface="Times New Roman" pitchFamily="18" charset="0"/>
                        </a:rPr>
                        <a:t>Year:2022</a:t>
                      </a:r>
                      <a:endParaRPr lang="en-IN" dirty="0">
                        <a:latin typeface="Times New Roman" pitchFamily="18" charset="0"/>
                        <a:cs typeface="Times New Roman" pitchFamily="18" charset="0"/>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latin typeface="Times New Roman" pitchFamily="18" charset="0"/>
                          <a:cs typeface="Times New Roman" pitchFamily="18" charset="0"/>
                        </a:rPr>
                        <a:t>Unimib</a:t>
                      </a:r>
                      <a:r>
                        <a:rPr lang="en-US" dirty="0">
                          <a:latin typeface="Times New Roman" pitchFamily="18" charset="0"/>
                          <a:cs typeface="Times New Roman" pitchFamily="18" charset="0"/>
                        </a:rPr>
                        <a:t> Assistant is a student-focused </a:t>
                      </a:r>
                      <a:r>
                        <a:rPr lang="en-US" dirty="0" err="1">
                          <a:latin typeface="Times New Roman" pitchFamily="18" charset="0"/>
                          <a:cs typeface="Times New Roman" pitchFamily="18" charset="0"/>
                        </a:rPr>
                        <a:t>chatbot</a:t>
                      </a:r>
                      <a:r>
                        <a:rPr lang="en-US" dirty="0">
                          <a:latin typeface="Times New Roman" pitchFamily="18" charset="0"/>
                          <a:cs typeface="Times New Roman" pitchFamily="18" charset="0"/>
                        </a:rPr>
                        <a:t> designed to offer accurate, context-aware answers related to university services, using RAG and NLP techniques tailored for educational settings.</a:t>
                      </a:r>
                      <a:endParaRPr lang="en-IN"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Currently limited in personalization and multilingual capabilities, with future improvements needed for broader user adaptation and proactive engagement.</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930400">
                <a:tc>
                  <a:txBody>
                    <a:bodyPr/>
                    <a:lstStyle/>
                    <a:p>
                      <a:pPr algn="ctr"/>
                      <a:r>
                        <a:rPr lang="en-IN" dirty="0"/>
                        <a:t>14.</a:t>
                      </a:r>
                    </a:p>
                  </a:txBody>
                  <a:tcPr/>
                </a:tc>
                <a:tc>
                  <a:txBody>
                    <a:bodyPr/>
                    <a:lstStyle/>
                    <a:p>
                      <a:r>
                        <a:rPr lang="en-US" dirty="0">
                          <a:latin typeface="Times New Roman" pitchFamily="18" charset="0"/>
                          <a:cs typeface="Times New Roman" pitchFamily="18" charset="0"/>
                        </a:rPr>
                        <a:t>“FACTS About Building Retrieval Augmented Generation-based </a:t>
                      </a:r>
                      <a:r>
                        <a:rPr lang="en-US" dirty="0" err="1">
                          <a:latin typeface="Times New Roman" pitchFamily="18" charset="0"/>
                          <a:cs typeface="Times New Roman" pitchFamily="18" charset="0"/>
                        </a:rPr>
                        <a:t>Chatbots</a:t>
                      </a:r>
                      <a:r>
                        <a:rPr lang="en-US" dirty="0">
                          <a:latin typeface="Times New Roman" pitchFamily="18" charset="0"/>
                          <a:cs typeface="Times New Roman" pitchFamily="18" charset="0"/>
                        </a:rPr>
                        <a:t>”</a:t>
                      </a:r>
                    </a:p>
                    <a:p>
                      <a:r>
                        <a:rPr lang="en-US" sz="1800" kern="1200" dirty="0">
                          <a:effectLst/>
                          <a:latin typeface="Times New Roman" pitchFamily="18" charset="0"/>
                          <a:cs typeface="Times New Roman" pitchFamily="18" charset="0"/>
                        </a:rPr>
                        <a:t>Author:</a:t>
                      </a:r>
                      <a:r>
                        <a:rPr lang="en-US" sz="1800" kern="1200" baseline="0" dirty="0">
                          <a:effectLst/>
                          <a:latin typeface="Times New Roman" pitchFamily="18" charset="0"/>
                          <a:cs typeface="Times New Roman" pitchFamily="18" charset="0"/>
                        </a:rPr>
                        <a:t> </a:t>
                      </a:r>
                      <a:r>
                        <a:rPr lang="en-IN" dirty="0">
                          <a:latin typeface="Times New Roman" pitchFamily="18" charset="0"/>
                          <a:cs typeface="Times New Roman" pitchFamily="18" charset="0"/>
                        </a:rPr>
                        <a:t>Sebastian </a:t>
                      </a:r>
                      <a:r>
                        <a:rPr lang="en-IN" dirty="0" err="1">
                          <a:latin typeface="Times New Roman" pitchFamily="18" charset="0"/>
                          <a:cs typeface="Times New Roman" pitchFamily="18" charset="0"/>
                        </a:rPr>
                        <a:t>Gehrmann</a:t>
                      </a:r>
                      <a:r>
                        <a:rPr lang="en-IN" dirty="0">
                          <a:latin typeface="Times New Roman" pitchFamily="18" charset="0"/>
                          <a:cs typeface="Times New Roman" pitchFamily="18" charset="0"/>
                        </a:rPr>
                        <a:t>.</a:t>
                      </a:r>
                      <a:endParaRPr lang="pt-BR" dirty="0">
                        <a:latin typeface="Times New Roman" pitchFamily="18" charset="0"/>
                        <a:cs typeface="Times New Roman" pitchFamily="18" charset="0"/>
                      </a:endParaRPr>
                    </a:p>
                    <a:p>
                      <a:r>
                        <a:rPr lang="en-US" sz="1800" kern="1200" dirty="0">
                          <a:effectLst/>
                          <a:latin typeface="Times New Roman" pitchFamily="18" charset="0"/>
                          <a:cs typeface="Times New Roman" pitchFamily="18" charset="0"/>
                        </a:rPr>
                        <a:t>Year:2020</a:t>
                      </a:r>
                      <a:endParaRPr lang="en-IN" dirty="0">
                        <a:latin typeface="Times New Roman" pitchFamily="18" charset="0"/>
                        <a:cs typeface="Times New Roman" pitchFamily="18" charset="0"/>
                      </a:endParaRPr>
                    </a:p>
                    <a:p>
                      <a:endParaRPr lang="en-IN" dirty="0"/>
                    </a:p>
                  </a:txBody>
                  <a:tcPr/>
                </a:tc>
                <a:tc>
                  <a:txBody>
                    <a:bodyPr/>
                    <a:lstStyle/>
                    <a:p>
                      <a:r>
                        <a:rPr lang="en-US" dirty="0">
                          <a:latin typeface="Times New Roman" pitchFamily="18" charset="0"/>
                          <a:cs typeface="Times New Roman" pitchFamily="18" charset="0"/>
                        </a:rPr>
                        <a:t>This paper provides a detailed analysis of best practices and pitfalls in building RAG-based </a:t>
                      </a:r>
                      <a:r>
                        <a:rPr lang="en-US" dirty="0" err="1">
                          <a:latin typeface="Times New Roman" pitchFamily="18" charset="0"/>
                          <a:cs typeface="Times New Roman" pitchFamily="18" charset="0"/>
                        </a:rPr>
                        <a:t>chatbots</a:t>
                      </a:r>
                      <a:r>
                        <a:rPr lang="en-US" dirty="0">
                          <a:latin typeface="Times New Roman" pitchFamily="18" charset="0"/>
                          <a:cs typeface="Times New Roman" pitchFamily="18" charset="0"/>
                        </a:rPr>
                        <a:t>, emphasizing the importance of retrieval quality, grounding, and system-wide optimization.</a:t>
                      </a:r>
                      <a:endParaRPr lang="en-IN"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Challenges include retrieval errors, prompt sensitivity, and feedback loops that can degrade factual accuracy, requiring careful tuning of all components.</a:t>
                      </a:r>
                      <a:endParaRPr lang="en-IN"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bl>
          </a:graphicData>
        </a:graphic>
      </p:graphicFrame>
      <p:pic>
        <p:nvPicPr>
          <p:cNvPr id="9" name="Picture 8">
            <a:extLst>
              <a:ext uri="{FF2B5EF4-FFF2-40B4-BE49-F238E27FC236}">
                <a16:creationId xmlns:a16="http://schemas.microsoft.com/office/drawing/2014/main" id="{F2B73B1B-7488-3715-65BB-087EB09936E8}"/>
              </a:ext>
            </a:extLst>
          </p:cNvPr>
          <p:cNvPicPr>
            <a:picLocks noChangeAspect="1"/>
          </p:cNvPicPr>
          <p:nvPr/>
        </p:nvPicPr>
        <p:blipFill>
          <a:blip r:embed="rId7"/>
          <a:stretch>
            <a:fillRect/>
          </a:stretch>
        </p:blipFill>
        <p:spPr>
          <a:xfrm>
            <a:off x="162288" y="186715"/>
            <a:ext cx="2552700" cy="952500"/>
          </a:xfrm>
          <a:prstGeom prst="rect">
            <a:avLst/>
          </a:prstGeom>
        </p:spPr>
      </p:pic>
    </p:spTree>
    <p:extLst>
      <p:ext uri="{BB962C8B-B14F-4D97-AF65-F5344CB8AC3E}">
        <p14:creationId xmlns:p14="http://schemas.microsoft.com/office/powerpoint/2010/main" val="1550842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824340" y="629606"/>
            <a:ext cx="5518484" cy="569494"/>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200" b="1" dirty="0">
                <a:solidFill>
                  <a:srgbClr val="002060"/>
                </a:solidFill>
                <a:latin typeface="Times New Roman" pitchFamily="18" charset="0"/>
                <a:cs typeface="Times New Roman" pitchFamily="18" charset="0"/>
              </a:rPr>
              <a:t>Recap of Phase -1 work done</a:t>
            </a:r>
            <a:br>
              <a:rPr lang="en-US" sz="3200" b="1" dirty="0">
                <a:solidFill>
                  <a:srgbClr val="002060"/>
                </a:solidFill>
                <a:latin typeface="Times New Roman" pitchFamily="18" charset="0"/>
                <a:cs typeface="Times New Roman" pitchFamily="18" charset="0"/>
              </a:rPr>
            </a:br>
            <a:endParaRPr lang="en-IN" sz="3200" b="1" dirty="0">
              <a:solidFill>
                <a:srgbClr val="7030A0"/>
              </a:solidFill>
            </a:endParaRPr>
          </a:p>
        </p:txBody>
      </p:sp>
      <p:sp>
        <p:nvSpPr>
          <p:cNvPr id="3" name="Content Placeholder 2">
            <a:extLst>
              <a:ext uri="{FF2B5EF4-FFF2-40B4-BE49-F238E27FC236}">
                <a16:creationId xmlns:a16="http://schemas.microsoft.com/office/drawing/2014/main" id="{1D1F351B-585C-78D1-D140-40CAD978E459}"/>
              </a:ext>
            </a:extLst>
          </p:cNvPr>
          <p:cNvSpPr>
            <a:spLocks noGrp="1"/>
          </p:cNvSpPr>
          <p:nvPr>
            <p:ph idx="1"/>
          </p:nvPr>
        </p:nvSpPr>
        <p:spPr>
          <a:xfrm>
            <a:off x="608274" y="1412017"/>
            <a:ext cx="10754140" cy="4779381"/>
          </a:xfrm>
        </p:spPr>
        <p:txBody>
          <a:bodyPr>
            <a:noAutofit/>
          </a:bodyPr>
          <a:lstStyle/>
          <a:p>
            <a:pPr marL="0" indent="0">
              <a:buNone/>
            </a:pPr>
            <a:r>
              <a:rPr lang="en-IN" sz="2000" b="1" dirty="0">
                <a:latin typeface="Times New Roman" panose="02020603050405020304" pitchFamily="18" charset="0"/>
                <a:cs typeface="Times New Roman" panose="02020603050405020304" pitchFamily="18" charset="0"/>
              </a:rPr>
              <a:t>1. Problem Identification &amp; Motivation</a:t>
            </a:r>
          </a:p>
          <a:p>
            <a:r>
              <a:rPr lang="en-IN" sz="2000" dirty="0">
                <a:latin typeface="Times New Roman" panose="02020603050405020304" pitchFamily="18" charset="0"/>
                <a:cs typeface="Times New Roman" panose="02020603050405020304" pitchFamily="18" charset="0"/>
              </a:rPr>
              <a:t>Students face difficulty accessing accurate, context-specific academic information quickly.</a:t>
            </a:r>
          </a:p>
          <a:p>
            <a:r>
              <a:rPr lang="en-IN" sz="2000" dirty="0">
                <a:latin typeface="Times New Roman" panose="02020603050405020304" pitchFamily="18" charset="0"/>
                <a:cs typeface="Times New Roman" panose="02020603050405020304" pitchFamily="18" charset="0"/>
              </a:rPr>
              <a:t>Existing resources are scattered, unstructured, or not personalized.</a:t>
            </a:r>
          </a:p>
          <a:p>
            <a:r>
              <a:rPr lang="en-IN" sz="2000" dirty="0">
                <a:latin typeface="Times New Roman" panose="02020603050405020304" pitchFamily="18" charset="0"/>
                <a:cs typeface="Times New Roman" panose="02020603050405020304" pitchFamily="18" charset="0"/>
              </a:rPr>
              <a:t>Need for an intelligent system providing instant answers, quizzes, and study plans.</a:t>
            </a:r>
          </a:p>
          <a:p>
            <a:pPr marL="0" indent="0">
              <a:buNone/>
            </a:pP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2. Project Purpose &amp; Objectives</a:t>
            </a:r>
          </a:p>
          <a:p>
            <a:r>
              <a:rPr lang="en-IN" sz="2000" dirty="0">
                <a:latin typeface="Times New Roman" panose="02020603050405020304" pitchFamily="18" charset="0"/>
                <a:cs typeface="Times New Roman" panose="02020603050405020304" pitchFamily="18" charset="0"/>
              </a:rPr>
              <a:t>Build a </a:t>
            </a:r>
            <a:r>
              <a:rPr lang="en-IN" sz="2000" b="1" dirty="0">
                <a:latin typeface="Times New Roman" panose="02020603050405020304" pitchFamily="18" charset="0"/>
                <a:cs typeface="Times New Roman" panose="02020603050405020304" pitchFamily="18" charset="0"/>
              </a:rPr>
              <a:t>RAG-based Student Assistant Chatbot</a:t>
            </a:r>
            <a:r>
              <a:rPr lang="en-IN" sz="2000" dirty="0">
                <a:latin typeface="Times New Roman" panose="02020603050405020304" pitchFamily="18" charset="0"/>
                <a:cs typeface="Times New Roman" panose="02020603050405020304" pitchFamily="18" charset="0"/>
              </a:rPr>
              <a:t> using </a:t>
            </a:r>
            <a:r>
              <a:rPr lang="en-IN" sz="2000" dirty="0" err="1">
                <a:latin typeface="Times New Roman" panose="02020603050405020304" pitchFamily="18" charset="0"/>
                <a:cs typeface="Times New Roman" panose="02020603050405020304" pitchFamily="18" charset="0"/>
              </a:rPr>
              <a:t>LangChain</a:t>
            </a:r>
            <a:r>
              <a:rPr lang="en-IN" sz="2000" dirty="0">
                <a:latin typeface="Times New Roman" panose="02020603050405020304" pitchFamily="18" charset="0"/>
                <a:cs typeface="Times New Roman" panose="02020603050405020304" pitchFamily="18" charset="0"/>
              </a:rPr>
              <a:t> for accurate Q&amp;A.</a:t>
            </a:r>
          </a:p>
          <a:p>
            <a:r>
              <a:rPr lang="en-IN" sz="2000" dirty="0">
                <a:latin typeface="Times New Roman" panose="02020603050405020304" pitchFamily="18" charset="0"/>
                <a:cs typeface="Times New Roman" panose="02020603050405020304" pitchFamily="18" charset="0"/>
              </a:rPr>
              <a:t>Enable </a:t>
            </a:r>
            <a:r>
              <a:rPr lang="en-IN" sz="2000" b="1" dirty="0">
                <a:latin typeface="Times New Roman" panose="02020603050405020304" pitchFamily="18" charset="0"/>
                <a:cs typeface="Times New Roman" panose="02020603050405020304" pitchFamily="18" charset="0"/>
              </a:rPr>
              <a:t>document upload, processing, and personalized learning features</a:t>
            </a:r>
            <a:r>
              <a:rPr lang="en-IN" sz="2000" dirty="0">
                <a:latin typeface="Times New Roman" panose="02020603050405020304" pitchFamily="18" charset="0"/>
                <a:cs typeface="Times New Roman" panose="02020603050405020304" pitchFamily="18" charset="0"/>
              </a:rPr>
              <a:t> (quizzes &amp; study plans).</a:t>
            </a:r>
          </a:p>
          <a:p>
            <a:r>
              <a:rPr lang="en-IN" sz="2000" dirty="0">
                <a:latin typeface="Times New Roman" panose="02020603050405020304" pitchFamily="18" charset="0"/>
                <a:cs typeface="Times New Roman" panose="02020603050405020304" pitchFamily="18" charset="0"/>
              </a:rPr>
              <a:t>Maintain </a:t>
            </a:r>
            <a:r>
              <a:rPr lang="en-IN" sz="2000" b="1" dirty="0">
                <a:latin typeface="Times New Roman" panose="02020603050405020304" pitchFamily="18" charset="0"/>
                <a:cs typeface="Times New Roman" panose="02020603050405020304" pitchFamily="18" charset="0"/>
              </a:rPr>
              <a:t>user profiles, chat/document history</a:t>
            </a:r>
            <a:r>
              <a:rPr lang="en-IN" sz="2000" dirty="0">
                <a:latin typeface="Times New Roman" panose="02020603050405020304" pitchFamily="18" charset="0"/>
                <a:cs typeface="Times New Roman" panose="02020603050405020304" pitchFamily="18" charset="0"/>
              </a:rPr>
              <a:t>, and deploy a </a:t>
            </a:r>
            <a:r>
              <a:rPr lang="en-IN" sz="2000" b="1" dirty="0">
                <a:latin typeface="Times New Roman" panose="02020603050405020304" pitchFamily="18" charset="0"/>
                <a:cs typeface="Times New Roman" panose="02020603050405020304" pitchFamily="18" charset="0"/>
              </a:rPr>
              <a:t>cloud-ready system</a:t>
            </a:r>
            <a:r>
              <a:rPr lang="en-IN" sz="2000" dirty="0">
                <a:latin typeface="Times New Roman" panose="02020603050405020304" pitchFamily="18" charset="0"/>
                <a:cs typeface="Times New Roman" panose="02020603050405020304" pitchFamily="18" charset="0"/>
              </a:rPr>
              <a:t>.</a:t>
            </a:r>
          </a:p>
          <a:p>
            <a:pPr marL="0" indent="0">
              <a:buNone/>
            </a:pPr>
            <a:endParaRPr lang="en-IN" sz="2000" dirty="0">
              <a:latin typeface="Times New Roman" pitchFamily="18" charset="0"/>
              <a:cs typeface="Times New Roman" pitchFamily="18" charset="0"/>
            </a:endParaRPr>
          </a:p>
        </p:txBody>
      </p:sp>
      <p:pic>
        <p:nvPicPr>
          <p:cNvPr id="7" name="Picture 2" descr="A logo for a college of engineering&#10;&#10;AI-generated content may be incorrect.">
            <a:extLst>
              <a:ext uri="{FF2B5EF4-FFF2-40B4-BE49-F238E27FC236}">
                <a16:creationId xmlns:a16="http://schemas.microsoft.com/office/drawing/2014/main" id="{A26954AD-4F98-5A24-C5C7-A7B087BF69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094" y="77333"/>
            <a:ext cx="25527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992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66C45-EFC2-36CA-671E-25E44C80118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439195E-0A2F-47E0-8B05-54F7688F298A}"/>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95055A13-0614-D63E-C3A1-7519CA9777D8}"/>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32F24FC6-FB13-6668-5448-899D31C9E043}"/>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2384B01-1B1B-0C30-73A1-E907FCCF3A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1C914DC5-107D-DD97-E468-8484D23195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EFC62C3B-804A-60D8-3701-E25A29CC8C7A}"/>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00D0B886-D514-EF32-41FB-50CA88D2B9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9833FAA2-D4F7-86AE-EBB8-2C6911A988F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53234BB5-ADE9-DE8D-4763-428B4E137537}"/>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7324CDCF-3F6A-9A0D-A384-0B55BFB6E119}"/>
              </a:ext>
            </a:extLst>
          </p:cNvPr>
          <p:cNvSpPr>
            <a:spLocks noGrp="1"/>
          </p:cNvSpPr>
          <p:nvPr>
            <p:ph type="title"/>
          </p:nvPr>
        </p:nvSpPr>
        <p:spPr>
          <a:xfrm>
            <a:off x="2824340" y="629606"/>
            <a:ext cx="5518484" cy="569494"/>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200" b="1" dirty="0">
                <a:solidFill>
                  <a:srgbClr val="002060"/>
                </a:solidFill>
                <a:latin typeface="Times New Roman" pitchFamily="18" charset="0"/>
                <a:cs typeface="Times New Roman" pitchFamily="18" charset="0"/>
              </a:rPr>
              <a:t>Recap of Phase -1 work done</a:t>
            </a:r>
            <a:br>
              <a:rPr lang="en-US" sz="3200" b="1" dirty="0">
                <a:solidFill>
                  <a:srgbClr val="002060"/>
                </a:solidFill>
                <a:latin typeface="Times New Roman" pitchFamily="18" charset="0"/>
                <a:cs typeface="Times New Roman" pitchFamily="18" charset="0"/>
              </a:rPr>
            </a:br>
            <a:endParaRPr lang="en-IN" sz="3200" b="1" dirty="0">
              <a:solidFill>
                <a:srgbClr val="7030A0"/>
              </a:solidFill>
            </a:endParaRPr>
          </a:p>
        </p:txBody>
      </p:sp>
      <p:sp>
        <p:nvSpPr>
          <p:cNvPr id="3" name="Content Placeholder 2">
            <a:extLst>
              <a:ext uri="{FF2B5EF4-FFF2-40B4-BE49-F238E27FC236}">
                <a16:creationId xmlns:a16="http://schemas.microsoft.com/office/drawing/2014/main" id="{4216C7D0-F094-53E5-300A-8C4ED742268B}"/>
              </a:ext>
            </a:extLst>
          </p:cNvPr>
          <p:cNvSpPr>
            <a:spLocks noGrp="1"/>
          </p:cNvSpPr>
          <p:nvPr>
            <p:ph idx="1"/>
          </p:nvPr>
        </p:nvSpPr>
        <p:spPr>
          <a:xfrm>
            <a:off x="608274" y="1412017"/>
            <a:ext cx="10754140" cy="4779381"/>
          </a:xfrm>
        </p:spPr>
        <p:txBody>
          <a:bodyPr>
            <a:noAutofit/>
          </a:bodyPr>
          <a:lstStyle/>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3. Literature Survey Completed</a:t>
            </a:r>
          </a:p>
          <a:p>
            <a:r>
              <a:rPr lang="en-IN" sz="2000" dirty="0">
                <a:latin typeface="Times New Roman" panose="02020603050405020304" pitchFamily="18" charset="0"/>
                <a:cs typeface="Times New Roman" panose="02020603050405020304" pitchFamily="18" charset="0"/>
              </a:rPr>
              <a:t>Reviewed RAG-based educational chatbots and </a:t>
            </a:r>
            <a:r>
              <a:rPr lang="en-IN" sz="2000" dirty="0" err="1">
                <a:latin typeface="Times New Roman" panose="02020603050405020304" pitchFamily="18" charset="0"/>
                <a:cs typeface="Times New Roman" panose="02020603050405020304" pitchFamily="18" charset="0"/>
              </a:rPr>
              <a:t>LangChain</a:t>
            </a:r>
            <a:r>
              <a:rPr lang="en-IN" sz="2000" dirty="0">
                <a:latin typeface="Times New Roman" panose="02020603050405020304" pitchFamily="18" charset="0"/>
                <a:cs typeface="Times New Roman" panose="02020603050405020304" pitchFamily="18" charset="0"/>
              </a:rPr>
              <a:t> pipelines.</a:t>
            </a:r>
          </a:p>
          <a:p>
            <a:r>
              <a:rPr lang="en-IN" sz="2000" dirty="0">
                <a:latin typeface="Times New Roman" panose="02020603050405020304" pitchFamily="18" charset="0"/>
                <a:cs typeface="Times New Roman" panose="02020603050405020304" pitchFamily="18" charset="0"/>
              </a:rPr>
              <a:t>Studied vector databases for semantic search (FAISS, Milvus).</a:t>
            </a:r>
          </a:p>
          <a:p>
            <a:r>
              <a:rPr lang="en-IN" sz="2000" dirty="0">
                <a:latin typeface="Times New Roman" panose="02020603050405020304" pitchFamily="18" charset="0"/>
                <a:cs typeface="Times New Roman" panose="02020603050405020304" pitchFamily="18" charset="0"/>
              </a:rPr>
              <a:t>Identified gaps: lack of personalization, study plan generation, and full document support.</a:t>
            </a:r>
          </a:p>
          <a:p>
            <a:pPr marL="0" indent="0">
              <a:buNone/>
            </a:pP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4. Methodology Outlined (Design Stage)</a:t>
            </a:r>
          </a:p>
          <a:p>
            <a:r>
              <a:rPr lang="en-IN" sz="2000" b="1" dirty="0">
                <a:latin typeface="Times New Roman" panose="02020603050405020304" pitchFamily="18" charset="0"/>
                <a:cs typeface="Times New Roman" panose="02020603050405020304" pitchFamily="18" charset="0"/>
              </a:rPr>
              <a:t>Frontend:</a:t>
            </a:r>
            <a:r>
              <a:rPr lang="en-IN" sz="2000" dirty="0">
                <a:latin typeface="Times New Roman" panose="02020603050405020304" pitchFamily="18" charset="0"/>
                <a:cs typeface="Times New Roman" panose="02020603050405020304" pitchFamily="18" charset="0"/>
              </a:rPr>
              <a:t> React/HTML/CSS for chat, document upload, and interface.</a:t>
            </a:r>
          </a:p>
          <a:p>
            <a:r>
              <a:rPr lang="en-IN" sz="2000" b="1" dirty="0">
                <a:latin typeface="Times New Roman" panose="02020603050405020304" pitchFamily="18" charset="0"/>
                <a:cs typeface="Times New Roman" panose="02020603050405020304" pitchFamily="18" charset="0"/>
              </a:rPr>
              <a:t>Backend:</a:t>
            </a:r>
            <a:r>
              <a:rPr lang="en-IN" sz="2000" dirty="0">
                <a:latin typeface="Times New Roman" panose="02020603050405020304" pitchFamily="18" charset="0"/>
                <a:cs typeface="Times New Roman" panose="02020603050405020304" pitchFamily="18" charset="0"/>
              </a:rPr>
              <a:t> Python + </a:t>
            </a:r>
            <a:r>
              <a:rPr lang="en-IN" sz="2000" dirty="0" err="1">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 to process requests, manage database, and handle LLM queries.</a:t>
            </a:r>
          </a:p>
          <a:p>
            <a:r>
              <a:rPr lang="en-IN" sz="2000" b="1" dirty="0">
                <a:latin typeface="Times New Roman" panose="02020603050405020304" pitchFamily="18" charset="0"/>
                <a:cs typeface="Times New Roman" panose="02020603050405020304" pitchFamily="18" charset="0"/>
              </a:rPr>
              <a:t>RAG Pipeline:</a:t>
            </a:r>
            <a:r>
              <a:rPr lang="en-IN" sz="2000" dirty="0">
                <a:latin typeface="Times New Roman" panose="02020603050405020304" pitchFamily="18" charset="0"/>
                <a:cs typeface="Times New Roman" panose="02020603050405020304" pitchFamily="18" charset="0"/>
              </a:rPr>
              <a:t> Extract &amp; embed document text → store in vector DB → retrieve → generate answers, quizzes, study plans.</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7" name="Picture 2" descr="A logo for a college of engineering&#10;&#10;AI-generated content may be incorrect.">
            <a:extLst>
              <a:ext uri="{FF2B5EF4-FFF2-40B4-BE49-F238E27FC236}">
                <a16:creationId xmlns:a16="http://schemas.microsoft.com/office/drawing/2014/main" id="{3CC1877D-11FC-F738-9234-BD04E1064D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094" y="77333"/>
            <a:ext cx="2552700" cy="95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803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FB87C-7311-0F7E-7244-AFE0DEAB5E3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BCE9839-1C17-2BA6-2031-25ED40E01D3F}"/>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28087F2A-41D6-F3FE-C00D-88A58F4E1370}"/>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B8439D2F-2600-4B65-FD19-D1A8C9643BEA}"/>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FD0FBE96-7246-21C7-4E09-D7AB7A819B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3DFD9867-703A-5C03-1FD4-89F012DD92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81B8E5E4-879A-E845-AF66-B2FB6BB8C6E7}"/>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C952D5DA-4845-CF96-D370-CC799326F8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3EF72C71-ED8C-86D5-9FA6-72B3CE117EE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F8CC6E63-FF50-9458-53A2-96F79C832FF7}"/>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716B533E-5503-3592-6499-8764FB341954}"/>
              </a:ext>
            </a:extLst>
          </p:cNvPr>
          <p:cNvSpPr>
            <a:spLocks noGrp="1"/>
          </p:cNvSpPr>
          <p:nvPr>
            <p:ph type="title"/>
          </p:nvPr>
        </p:nvSpPr>
        <p:spPr>
          <a:xfrm>
            <a:off x="2762794" y="336943"/>
            <a:ext cx="5518484" cy="569494"/>
          </a:xfrm>
        </p:spPr>
        <p:txBody>
          <a:bodyPr>
            <a:noAutofit/>
          </a:bodyPr>
          <a:lstStyle/>
          <a:p>
            <a:pPr algn="ctr"/>
            <a:br>
              <a:rPr lang="en-US" sz="3600" b="1" dirty="0">
                <a:solidFill>
                  <a:srgbClr val="C0108E"/>
                </a:solidFill>
                <a:latin typeface="Times New Roman" pitchFamily="18" charset="0"/>
                <a:cs typeface="Times New Roman" pitchFamily="18" charset="0"/>
              </a:rPr>
            </a:br>
            <a:endParaRPr lang="en-IN" sz="3200" b="1" dirty="0">
              <a:solidFill>
                <a:srgbClr val="7030A0"/>
              </a:solidFill>
            </a:endParaRPr>
          </a:p>
        </p:txBody>
      </p:sp>
      <p:pic>
        <p:nvPicPr>
          <p:cNvPr id="13" name="Content Placeholder 12">
            <a:extLst>
              <a:ext uri="{FF2B5EF4-FFF2-40B4-BE49-F238E27FC236}">
                <a16:creationId xmlns:a16="http://schemas.microsoft.com/office/drawing/2014/main" id="{0D95CC35-4F1C-E532-CF50-59560A43D487}"/>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5804452" y="1399429"/>
            <a:ext cx="5971430" cy="4569631"/>
          </a:xfrm>
        </p:spPr>
      </p:pic>
      <p:pic>
        <p:nvPicPr>
          <p:cNvPr id="7" name="Picture 2" descr="A logo for a college of engineering&#10;&#10;AI-generated content may be incorrect.">
            <a:extLst>
              <a:ext uri="{FF2B5EF4-FFF2-40B4-BE49-F238E27FC236}">
                <a16:creationId xmlns:a16="http://schemas.microsoft.com/office/drawing/2014/main" id="{934B6081-358F-8DF4-E3C0-9523DA32910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094" y="77333"/>
            <a:ext cx="2552700" cy="952500"/>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0264FCEF-5CAF-35E8-AC95-14BF70512365}"/>
              </a:ext>
            </a:extLst>
          </p:cNvPr>
          <p:cNvSpPr txBox="1">
            <a:spLocks/>
          </p:cNvSpPr>
          <p:nvPr/>
        </p:nvSpPr>
        <p:spPr>
          <a:xfrm>
            <a:off x="2377639" y="673847"/>
            <a:ext cx="5518484" cy="5694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rgbClr val="7030A0"/>
                </a:solidFill>
              </a:rPr>
              <a:t>	IMPLEMENTATION </a:t>
            </a:r>
          </a:p>
        </p:txBody>
      </p:sp>
      <p:sp>
        <p:nvSpPr>
          <p:cNvPr id="15" name="Content Placeholder 2">
            <a:extLst>
              <a:ext uri="{FF2B5EF4-FFF2-40B4-BE49-F238E27FC236}">
                <a16:creationId xmlns:a16="http://schemas.microsoft.com/office/drawing/2014/main" id="{BA1E7C30-29B7-2F52-90D2-75036367E59E}"/>
              </a:ext>
            </a:extLst>
          </p:cNvPr>
          <p:cNvSpPr txBox="1">
            <a:spLocks/>
          </p:cNvSpPr>
          <p:nvPr/>
        </p:nvSpPr>
        <p:spPr>
          <a:xfrm>
            <a:off x="759349" y="1364609"/>
            <a:ext cx="4234070" cy="45696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N" sz="2000" dirty="0">
              <a:latin typeface="Times New Roman" pitchFamily="18" charset="0"/>
              <a:cs typeface="Times New Roman" pitchFamily="18" charset="0"/>
            </a:endParaRPr>
          </a:p>
        </p:txBody>
      </p:sp>
      <p:sp>
        <p:nvSpPr>
          <p:cNvPr id="17" name="Content Placeholder 2">
            <a:extLst>
              <a:ext uri="{FF2B5EF4-FFF2-40B4-BE49-F238E27FC236}">
                <a16:creationId xmlns:a16="http://schemas.microsoft.com/office/drawing/2014/main" id="{75915ED8-F858-ACAB-EEA7-085EDDA40810}"/>
              </a:ext>
            </a:extLst>
          </p:cNvPr>
          <p:cNvSpPr txBox="1">
            <a:spLocks/>
          </p:cNvSpPr>
          <p:nvPr/>
        </p:nvSpPr>
        <p:spPr>
          <a:xfrm>
            <a:off x="117142" y="1364609"/>
            <a:ext cx="5518484" cy="47793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0" fontAlgn="base" hangingPunct="0"/>
            <a:r>
              <a:rPr lang="en-US" sz="1600" b="1" dirty="0">
                <a:latin typeface="Times New Roman" panose="02020603050405020304" pitchFamily="18" charset="0"/>
                <a:cs typeface="Times New Roman" panose="02020603050405020304" pitchFamily="18" charset="0"/>
              </a:rPr>
              <a:t>Frontend</a:t>
            </a:r>
            <a:r>
              <a:rPr lang="en-US" sz="1600" dirty="0">
                <a:latin typeface="Times New Roman" panose="02020603050405020304" pitchFamily="18" charset="0"/>
                <a:cs typeface="Times New Roman" panose="02020603050405020304" pitchFamily="18" charset="0"/>
              </a:rPr>
              <a:t>: Built with React/HTML/</a:t>
            </a:r>
            <a:r>
              <a:rPr lang="en-US" sz="1600" dirty="0" err="1">
                <a:latin typeface="Times New Roman" panose="02020603050405020304" pitchFamily="18" charset="0"/>
                <a:cs typeface="Times New Roman" panose="02020603050405020304" pitchFamily="18" charset="0"/>
              </a:rPr>
              <a:t>CSS,Users</a:t>
            </a:r>
            <a:r>
              <a:rPr lang="en-US" sz="1600" dirty="0">
                <a:latin typeface="Times New Roman" panose="02020603050405020304" pitchFamily="18" charset="0"/>
                <a:cs typeface="Times New Roman" panose="02020603050405020304" pitchFamily="18" charset="0"/>
              </a:rPr>
              <a:t> can chat, upload documents, and see answers, quizzes, and study plans.</a:t>
            </a:r>
            <a:endParaRPr lang="en-IN" sz="1600" dirty="0">
              <a:latin typeface="Times New Roman" panose="02020603050405020304" pitchFamily="18" charset="0"/>
              <a:cs typeface="Times New Roman" panose="02020603050405020304" pitchFamily="18" charset="0"/>
            </a:endParaRPr>
          </a:p>
          <a:p>
            <a:pPr algn="just" eaLnBrk="0" fontAlgn="base" hangingPunct="0"/>
            <a:r>
              <a:rPr lang="en-US" sz="1600" b="1" dirty="0">
                <a:latin typeface="Times New Roman" panose="02020603050405020304" pitchFamily="18" charset="0"/>
                <a:cs typeface="Times New Roman" panose="02020603050405020304" pitchFamily="18" charset="0"/>
              </a:rPr>
              <a:t>Backend</a:t>
            </a:r>
            <a:r>
              <a:rPr lang="en-US" sz="1600" dirty="0">
                <a:latin typeface="Times New Roman" panose="02020603050405020304" pitchFamily="18" charset="0"/>
                <a:cs typeface="Times New Roman" panose="02020603050405020304" pitchFamily="18" charset="0"/>
              </a:rPr>
              <a:t>: Built with Python &amp; </a:t>
            </a:r>
            <a:r>
              <a:rPr lang="en-US" sz="1600" dirty="0" err="1">
                <a:latin typeface="Times New Roman" panose="02020603050405020304" pitchFamily="18" charset="0"/>
                <a:cs typeface="Times New Roman" panose="02020603050405020304" pitchFamily="18" charset="0"/>
              </a:rPr>
              <a:t>FastAPI,Handles</a:t>
            </a:r>
            <a:r>
              <a:rPr lang="en-US" sz="1600" dirty="0">
                <a:latin typeface="Times New Roman" panose="02020603050405020304" pitchFamily="18" charset="0"/>
                <a:cs typeface="Times New Roman" panose="02020603050405020304" pitchFamily="18" charset="0"/>
              </a:rPr>
              <a:t> user requests, document uploads, and communicates with the database and LLM.</a:t>
            </a:r>
            <a:endParaRPr lang="en-IN" sz="1600" dirty="0">
              <a:latin typeface="Times New Roman" panose="02020603050405020304" pitchFamily="18" charset="0"/>
              <a:cs typeface="Times New Roman" panose="02020603050405020304" pitchFamily="18" charset="0"/>
            </a:endParaRPr>
          </a:p>
          <a:p>
            <a:pPr algn="just" eaLnBrk="0" fontAlgn="base" hangingPunct="0"/>
            <a:r>
              <a:rPr lang="en-US" sz="1600" b="1" dirty="0">
                <a:latin typeface="Times New Roman" panose="02020603050405020304" pitchFamily="18" charset="0"/>
                <a:cs typeface="Times New Roman" panose="02020603050405020304" pitchFamily="18" charset="0"/>
              </a:rPr>
              <a:t>Document Processing</a:t>
            </a:r>
            <a:r>
              <a:rPr lang="en-US" sz="1600" dirty="0">
                <a:latin typeface="Times New Roman" panose="02020603050405020304" pitchFamily="18" charset="0"/>
                <a:cs typeface="Times New Roman" panose="02020603050405020304" pitchFamily="18" charset="0"/>
              </a:rPr>
              <a:t>: Extract text from PDFs, DOCX, and TXT </a:t>
            </a:r>
            <a:r>
              <a:rPr lang="en-US" sz="1600" dirty="0" err="1">
                <a:latin typeface="Times New Roman" panose="02020603050405020304" pitchFamily="18" charset="0"/>
                <a:cs typeface="Times New Roman" panose="02020603050405020304" pitchFamily="18" charset="0"/>
              </a:rPr>
              <a:t>files.Split</a:t>
            </a:r>
            <a:r>
              <a:rPr lang="en-US" sz="1600" dirty="0">
                <a:latin typeface="Times New Roman" panose="02020603050405020304" pitchFamily="18" charset="0"/>
                <a:cs typeface="Times New Roman" panose="02020603050405020304" pitchFamily="18" charset="0"/>
              </a:rPr>
              <a:t> text into small chunks for easy search.</a:t>
            </a:r>
            <a:endParaRPr lang="en-IN" sz="1600" dirty="0">
              <a:latin typeface="Times New Roman" panose="02020603050405020304" pitchFamily="18" charset="0"/>
              <a:cs typeface="Times New Roman" panose="02020603050405020304" pitchFamily="18" charset="0"/>
            </a:endParaRPr>
          </a:p>
          <a:p>
            <a:pPr algn="just" eaLnBrk="0" fontAlgn="base" hangingPunct="0"/>
            <a:r>
              <a:rPr lang="en-US" sz="1600" b="1" dirty="0">
                <a:latin typeface="Times New Roman" panose="02020603050405020304" pitchFamily="18" charset="0"/>
                <a:cs typeface="Times New Roman" panose="02020603050405020304" pitchFamily="18" charset="0"/>
              </a:rPr>
              <a:t>Vector Database</a:t>
            </a:r>
            <a:r>
              <a:rPr lang="en-US" sz="1600" dirty="0">
                <a:latin typeface="Times New Roman" panose="02020603050405020304" pitchFamily="18" charset="0"/>
                <a:cs typeface="Times New Roman" panose="02020603050405020304" pitchFamily="18" charset="0"/>
              </a:rPr>
              <a:t>:Convert text chunks into </a:t>
            </a:r>
            <a:r>
              <a:rPr lang="en-US" sz="1600" b="1" dirty="0">
                <a:latin typeface="Times New Roman" panose="02020603050405020304" pitchFamily="18" charset="0"/>
                <a:cs typeface="Times New Roman" panose="02020603050405020304" pitchFamily="18" charset="0"/>
              </a:rPr>
              <a:t>embeddings</a:t>
            </a:r>
            <a:r>
              <a:rPr lang="en-US" sz="1600" dirty="0">
                <a:latin typeface="Times New Roman" panose="02020603050405020304" pitchFamily="18" charset="0"/>
                <a:cs typeface="Times New Roman" panose="02020603050405020304" pitchFamily="18" charset="0"/>
              </a:rPr>
              <a:t> and store in a vector database(</a:t>
            </a:r>
            <a:r>
              <a:rPr lang="en-US" sz="1600" dirty="0" err="1">
                <a:latin typeface="Times New Roman" panose="02020603050405020304" pitchFamily="18" charset="0"/>
                <a:cs typeface="Times New Roman" panose="02020603050405020304" pitchFamily="18" charset="0"/>
              </a:rPr>
              <a:t>ChromaDB</a:t>
            </a:r>
            <a:r>
              <a:rPr lang="en-US" sz="1600" dirty="0">
                <a:latin typeface="Times New Roman" panose="02020603050405020304" pitchFamily="18" charset="0"/>
                <a:cs typeface="Times New Roman" panose="02020603050405020304" pitchFamily="18" charset="0"/>
              </a:rPr>
              <a:t>),Retrieve relevant text based on user queries.</a:t>
            </a:r>
            <a:endParaRPr lang="en-IN" sz="1600" dirty="0">
              <a:latin typeface="Times New Roman" panose="02020603050405020304" pitchFamily="18" charset="0"/>
              <a:cs typeface="Times New Roman" panose="02020603050405020304" pitchFamily="18" charset="0"/>
            </a:endParaRPr>
          </a:p>
          <a:p>
            <a:pPr algn="just" eaLnBrk="0" fontAlgn="base" hangingPunct="0"/>
            <a:r>
              <a:rPr lang="en-US" sz="1600" b="1" dirty="0" err="1">
                <a:latin typeface="Times New Roman" panose="02020603050405020304" pitchFamily="18" charset="0"/>
                <a:cs typeface="Times New Roman" panose="02020603050405020304" pitchFamily="18" charset="0"/>
              </a:rPr>
              <a:t>RAG+LangChain</a:t>
            </a:r>
            <a:r>
              <a:rPr lang="en-US" sz="1600" dirty="0">
                <a:latin typeface="Times New Roman" panose="02020603050405020304" pitchFamily="18" charset="0"/>
                <a:cs typeface="Times New Roman" panose="02020603050405020304" pitchFamily="18" charset="0"/>
              </a:rPr>
              <a:t>: Combine retrieved document chunks with the LLM to generate accurate </a:t>
            </a:r>
            <a:r>
              <a:rPr lang="en-US" sz="1600" dirty="0" err="1">
                <a:latin typeface="Times New Roman" panose="02020603050405020304" pitchFamily="18" charset="0"/>
                <a:cs typeface="Times New Roman" panose="02020603050405020304" pitchFamily="18" charset="0"/>
              </a:rPr>
              <a:t>answers,Also</a:t>
            </a:r>
            <a:r>
              <a:rPr lang="en-US" sz="1600" dirty="0">
                <a:latin typeface="Times New Roman" panose="02020603050405020304" pitchFamily="18" charset="0"/>
                <a:cs typeface="Times New Roman" panose="02020603050405020304" pitchFamily="18" charset="0"/>
              </a:rPr>
              <a:t> generate quizzes and study plans from uploaded documents.</a:t>
            </a:r>
            <a:endParaRPr lang="en-IN" sz="1600" dirty="0">
              <a:latin typeface="Times New Roman" panose="02020603050405020304" pitchFamily="18" charset="0"/>
              <a:cs typeface="Times New Roman" panose="02020603050405020304" pitchFamily="18" charset="0"/>
            </a:endParaRPr>
          </a:p>
          <a:p>
            <a:pPr algn="just" eaLnBrk="0" fontAlgn="base" hangingPunct="0"/>
            <a:r>
              <a:rPr lang="en-US" sz="1600" b="1" dirty="0">
                <a:latin typeface="Times New Roman" panose="02020603050405020304" pitchFamily="18" charset="0"/>
                <a:cs typeface="Times New Roman" panose="02020603050405020304" pitchFamily="18" charset="0"/>
              </a:rPr>
              <a:t>Database: MongoDB</a:t>
            </a:r>
            <a:r>
              <a:rPr lang="en-US" sz="1600" dirty="0">
                <a:latin typeface="Times New Roman" panose="02020603050405020304" pitchFamily="18" charset="0"/>
                <a:cs typeface="Times New Roman" panose="02020603050405020304" pitchFamily="18" charset="0"/>
              </a:rPr>
              <a:t> stores user profiles, chat history, and uploaded documents.</a:t>
            </a:r>
            <a:endParaRPr lang="en-IN" sz="1600" dirty="0">
              <a:latin typeface="Times New Roman" panose="02020603050405020304" pitchFamily="18" charset="0"/>
              <a:cs typeface="Times New Roman" panose="02020603050405020304" pitchFamily="18" charset="0"/>
            </a:endParaRPr>
          </a:p>
          <a:p>
            <a:pPr algn="just" eaLnBrk="0" fontAlgn="base" hangingPunct="0"/>
            <a:r>
              <a:rPr lang="en-US" sz="1600" b="1" dirty="0">
                <a:latin typeface="Times New Roman" panose="02020603050405020304" pitchFamily="18" charset="0"/>
                <a:cs typeface="Times New Roman" panose="02020603050405020304" pitchFamily="18" charset="0"/>
              </a:rPr>
              <a:t>Deployment</a:t>
            </a:r>
            <a:r>
              <a:rPr lang="en-US" sz="1600" dirty="0">
                <a:latin typeface="Times New Roman" panose="02020603050405020304" pitchFamily="18" charset="0"/>
                <a:cs typeface="Times New Roman" panose="02020603050405020304" pitchFamily="18" charset="0"/>
              </a:rPr>
              <a:t>: We are using </a:t>
            </a:r>
            <a:r>
              <a:rPr lang="en-US" sz="1600" b="1" dirty="0">
                <a:latin typeface="Times New Roman" panose="02020603050405020304" pitchFamily="18" charset="0"/>
                <a:cs typeface="Times New Roman" panose="02020603050405020304" pitchFamily="18" charset="0"/>
              </a:rPr>
              <a:t>Docker</a:t>
            </a:r>
            <a:r>
              <a:rPr lang="en-US" sz="1600" dirty="0">
                <a:latin typeface="Times New Roman" panose="02020603050405020304" pitchFamily="18" charset="0"/>
                <a:cs typeface="Times New Roman" panose="02020603050405020304" pitchFamily="18" charset="0"/>
              </a:rPr>
              <a:t> package to deploy our project on the cloud. Deploy on the cloud for scalability and accessibility.</a:t>
            </a:r>
            <a:endParaRPr lang="en-IN" sz="1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927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347777" y="683726"/>
            <a:ext cx="7009069" cy="569494"/>
          </a:xfrm>
        </p:spPr>
        <p:txBody>
          <a:bodyPr>
            <a:noAutofit/>
          </a:bodyPr>
          <a:lstStyle/>
          <a:p>
            <a:pPr algn="ctr"/>
            <a:br>
              <a:rPr lang="en-US" sz="3600" b="1" dirty="0">
                <a:solidFill>
                  <a:srgbClr val="C0108E"/>
                </a:solidFill>
                <a:latin typeface="Times New Roman" pitchFamily="18" charset="0"/>
                <a:cs typeface="Times New Roman" pitchFamily="18" charset="0"/>
              </a:rPr>
            </a:br>
            <a:r>
              <a:rPr lang="en-US" sz="3600" b="1" dirty="0">
                <a:solidFill>
                  <a:srgbClr val="C0108E"/>
                </a:solidFill>
                <a:latin typeface="Times New Roman" pitchFamily="18" charset="0"/>
                <a:cs typeface="Times New Roman" pitchFamily="18" charset="0"/>
              </a:rPr>
              <a:t>SYSTEM ARCHITECTURE</a:t>
            </a:r>
            <a:endParaRPr lang="en-IN" sz="3200" b="1" dirty="0">
              <a:solidFill>
                <a:srgbClr val="7030A0"/>
              </a:solidFill>
            </a:endParaRPr>
          </a:p>
        </p:txBody>
      </p:sp>
      <p:sp>
        <p:nvSpPr>
          <p:cNvPr id="3" name="Content Placeholder 2">
            <a:extLst>
              <a:ext uri="{FF2B5EF4-FFF2-40B4-BE49-F238E27FC236}">
                <a16:creationId xmlns:a16="http://schemas.microsoft.com/office/drawing/2014/main" id="{1D1F351B-585C-78D1-D140-40CAD978E459}"/>
              </a:ext>
            </a:extLst>
          </p:cNvPr>
          <p:cNvSpPr>
            <a:spLocks noGrp="1"/>
          </p:cNvSpPr>
          <p:nvPr>
            <p:ph idx="1"/>
          </p:nvPr>
        </p:nvSpPr>
        <p:spPr>
          <a:xfrm>
            <a:off x="378070" y="1493520"/>
            <a:ext cx="11289322" cy="4714240"/>
          </a:xfrm>
        </p:spPr>
        <p:txBody>
          <a:bodyPr>
            <a:noAutofit/>
          </a:bodyPr>
          <a:lstStyle/>
          <a:p>
            <a:pPr marL="0" indent="0" algn="just">
              <a:buNone/>
            </a:pPr>
            <a:r>
              <a:rPr lang="en-IN" sz="2000" b="1" dirty="0">
                <a:latin typeface="Times New Roman" pitchFamily="18" charset="0"/>
                <a:cs typeface="Times New Roman" pitchFamily="18" charset="0"/>
              </a:rPr>
              <a:t>SOFTWARE:</a:t>
            </a:r>
          </a:p>
          <a:p>
            <a:pPr algn="just"/>
            <a:r>
              <a:rPr lang="en-US" sz="2000" b="1" dirty="0" err="1"/>
              <a:t>Python:</a:t>
            </a:r>
            <a:r>
              <a:rPr lang="en-US" sz="2000" dirty="0" err="1"/>
              <a:t>The</a:t>
            </a:r>
            <a:r>
              <a:rPr lang="en-US" sz="2000" dirty="0"/>
              <a:t> core programming language for our </a:t>
            </a:r>
            <a:r>
              <a:rPr lang="en-US" sz="2000" dirty="0" err="1"/>
              <a:t>project,Used</a:t>
            </a:r>
            <a:r>
              <a:rPr lang="en-US" sz="2000" dirty="0"/>
              <a:t> to implement backend logic, RAG pipeline, document processing, embeddings, and API integration.</a:t>
            </a:r>
          </a:p>
          <a:p>
            <a:pPr algn="just"/>
            <a:r>
              <a:rPr lang="en-US" sz="2000" b="1" dirty="0" err="1"/>
              <a:t>FastAPI</a:t>
            </a:r>
            <a:r>
              <a:rPr lang="en-US" sz="2000" dirty="0"/>
              <a:t>: A lightweight, high-performance web framework for building </a:t>
            </a:r>
            <a:r>
              <a:rPr lang="en-US" sz="2000" dirty="0" err="1"/>
              <a:t>APIs,Provides</a:t>
            </a:r>
            <a:r>
              <a:rPr lang="en-US" sz="2000" dirty="0"/>
              <a:t> endpoints like /upload, /chat, /quiz, /study plan so the frontend (React) can interact with the backend.</a:t>
            </a:r>
          </a:p>
          <a:p>
            <a:pPr algn="just"/>
            <a:r>
              <a:rPr lang="en-US" sz="2000" b="1" dirty="0" err="1"/>
              <a:t>LangChain:</a:t>
            </a:r>
            <a:r>
              <a:rPr lang="en-US" sz="2000" dirty="0" err="1"/>
              <a:t>A</a:t>
            </a:r>
            <a:r>
              <a:rPr lang="en-US" sz="2000" dirty="0"/>
              <a:t> framework for building LLM-powered </a:t>
            </a:r>
            <a:r>
              <a:rPr lang="en-US" sz="2000" dirty="0" err="1"/>
              <a:t>applications,Handles</a:t>
            </a:r>
            <a:r>
              <a:rPr lang="en-US" sz="2000" dirty="0"/>
              <a:t> the </a:t>
            </a:r>
            <a:r>
              <a:rPr lang="en-US" sz="2000" b="1" dirty="0"/>
              <a:t>RAG pipeline</a:t>
            </a:r>
            <a:r>
              <a:rPr lang="en-US" sz="2000" dirty="0"/>
              <a:t> (retrieving chunks from FAISS, combining them with LLM prompts) for Q&amp;A, quiz generation, and study plans.</a:t>
            </a:r>
          </a:p>
          <a:p>
            <a:pPr algn="just"/>
            <a:r>
              <a:rPr lang="en-US" sz="2000" b="1" dirty="0" err="1"/>
              <a:t>MongoDB:</a:t>
            </a:r>
            <a:r>
              <a:rPr lang="en-US" sz="2000" dirty="0" err="1"/>
              <a:t>A</a:t>
            </a:r>
            <a:r>
              <a:rPr lang="en-US" sz="2000" dirty="0"/>
              <a:t> </a:t>
            </a:r>
            <a:r>
              <a:rPr lang="en-US" sz="2000" b="1" dirty="0"/>
              <a:t>NoSQL database</a:t>
            </a:r>
            <a:r>
              <a:rPr lang="en-US" sz="2000" dirty="0"/>
              <a:t> used for </a:t>
            </a:r>
            <a:r>
              <a:rPr lang="en-US" sz="2000" dirty="0" err="1"/>
              <a:t>persistence.Stores</a:t>
            </a:r>
            <a:r>
              <a:rPr lang="en-US" sz="2000" dirty="0"/>
              <a:t> </a:t>
            </a:r>
            <a:r>
              <a:rPr lang="en-US" sz="2000" b="1" dirty="0"/>
              <a:t>user profiles, chat history, and document history</a:t>
            </a:r>
            <a:r>
              <a:rPr lang="en-US" sz="2000" dirty="0"/>
              <a:t>, enabling personalized and continuous student interaction.</a:t>
            </a:r>
          </a:p>
          <a:p>
            <a:pPr algn="just"/>
            <a:r>
              <a:rPr lang="en-US" sz="2000" b="1" dirty="0"/>
              <a:t>React: </a:t>
            </a:r>
            <a:r>
              <a:rPr lang="en-US" sz="2000" dirty="0"/>
              <a:t>A </a:t>
            </a:r>
            <a:r>
              <a:rPr lang="en-US" sz="2000" b="1" dirty="0"/>
              <a:t>frontend framework</a:t>
            </a:r>
            <a:r>
              <a:rPr lang="en-US" sz="2000" dirty="0"/>
              <a:t> for building a modern web </a:t>
            </a:r>
            <a:r>
              <a:rPr lang="en-US" sz="2000" dirty="0" err="1"/>
              <a:t>interface.Provides</a:t>
            </a:r>
            <a:r>
              <a:rPr lang="en-US" sz="2000" dirty="0"/>
              <a:t> an interactive </a:t>
            </a:r>
            <a:r>
              <a:rPr lang="en-US" sz="2000" b="1" dirty="0"/>
              <a:t>chat UI</a:t>
            </a:r>
            <a:r>
              <a:rPr lang="en-US" sz="2000" dirty="0"/>
              <a:t> where students can upload documents, ask questions, view quizzes, and access study plans.</a:t>
            </a:r>
          </a:p>
          <a:p>
            <a:pPr algn="just"/>
            <a:r>
              <a:rPr lang="en-US" sz="2000" b="1" dirty="0" err="1"/>
              <a:t>Docker:</a:t>
            </a:r>
            <a:r>
              <a:rPr lang="en-US" sz="2000" dirty="0" err="1"/>
              <a:t>Used</a:t>
            </a:r>
            <a:r>
              <a:rPr lang="en-US" sz="2000" dirty="0"/>
              <a:t> for </a:t>
            </a:r>
            <a:r>
              <a:rPr lang="en-US" sz="2000" b="1" dirty="0"/>
              <a:t>containerization</a:t>
            </a:r>
            <a:r>
              <a:rPr lang="en-US" sz="2000" dirty="0"/>
              <a:t> of the whole application (backend + frontend + database).Ensures smooth deployment on cloud platforms with scalability and no dependency issues.</a:t>
            </a:r>
          </a:p>
          <a:p>
            <a:pPr algn="just"/>
            <a:endParaRPr lang="en-US" sz="2000" dirty="0"/>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604346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762794" y="804580"/>
            <a:ext cx="5518484" cy="569494"/>
          </a:xfrm>
        </p:spPr>
        <p:txBody>
          <a:bodyPr>
            <a:noAutofit/>
          </a:bodyPr>
          <a:lstStyle/>
          <a:p>
            <a:pPr algn="ctr"/>
            <a:r>
              <a:rPr lang="en-IN" sz="3200" b="1" dirty="0">
                <a:solidFill>
                  <a:srgbClr val="7030A0"/>
                </a:solidFill>
              </a:rPr>
              <a:t>EXPECTED OUTCOMES</a:t>
            </a:r>
          </a:p>
        </p:txBody>
      </p:sp>
      <p:sp>
        <p:nvSpPr>
          <p:cNvPr id="7" name="Rectangle 1">
            <a:extLst>
              <a:ext uri="{FF2B5EF4-FFF2-40B4-BE49-F238E27FC236}">
                <a16:creationId xmlns:a16="http://schemas.microsoft.com/office/drawing/2014/main" id="{99B4519C-3BB2-3902-8E70-1DAAD5710FD5}"/>
              </a:ext>
            </a:extLst>
          </p:cNvPr>
          <p:cNvSpPr>
            <a:spLocks noGrp="1" noChangeArrowheads="1"/>
          </p:cNvSpPr>
          <p:nvPr>
            <p:ph idx="1"/>
          </p:nvPr>
        </p:nvSpPr>
        <p:spPr bwMode="auto">
          <a:xfrm>
            <a:off x="455764" y="1401338"/>
            <a:ext cx="8562729"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6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Intelligent </a:t>
            </a:r>
            <a:r>
              <a:rPr kumimoji="0" lang="en-US" altLang="en-US" sz="26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assistant chatbot</a:t>
            </a:r>
            <a:r>
              <a:rPr kumimoji="0" lang="en-US" altLang="en-US" sz="26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academic Q&amp;A grounded in documents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Quiz generation from uploaded study materials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study plan creation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Persistence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profiles, chat history, and document history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Deployment-ready</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Dockerized, scalable cloud solution</a:t>
            </a:r>
          </a:p>
        </p:txBody>
      </p:sp>
      <p:pic>
        <p:nvPicPr>
          <p:cNvPr id="13" name="Picture 12">
            <a:extLst>
              <a:ext uri="{FF2B5EF4-FFF2-40B4-BE49-F238E27FC236}">
                <a16:creationId xmlns:a16="http://schemas.microsoft.com/office/drawing/2014/main" id="{9183BF1A-6122-43E0-0E76-9E469C0A8723}"/>
              </a:ext>
            </a:extLst>
          </p:cNvPr>
          <p:cNvPicPr>
            <a:picLocks noChangeAspect="1"/>
          </p:cNvPicPr>
          <p:nvPr/>
        </p:nvPicPr>
        <p:blipFill>
          <a:blip r:embed="rId7"/>
          <a:stretch>
            <a:fillRect/>
          </a:stretch>
        </p:blipFill>
        <p:spPr>
          <a:xfrm>
            <a:off x="210094" y="224660"/>
            <a:ext cx="2552700" cy="952500"/>
          </a:xfrm>
          <a:prstGeom prst="rect">
            <a:avLst/>
          </a:prstGeom>
        </p:spPr>
      </p:pic>
    </p:spTree>
    <p:extLst>
      <p:ext uri="{BB962C8B-B14F-4D97-AF65-F5344CB8AC3E}">
        <p14:creationId xmlns:p14="http://schemas.microsoft.com/office/powerpoint/2010/main" val="2743914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D4EF-F483-0B7B-5ECF-1C3457CBB8D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D02BBC-86E8-B7B5-F542-950EC88EE4EE}"/>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69B9564-0424-EA59-1DCC-339F795A0E79}"/>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a:solidFill>
                  <a:schemeClr val="tx1"/>
                </a:solidFill>
                <a:latin typeface="Times New Roman" panose="02020603050405020304" pitchFamily="18" charset="0"/>
                <a:cs typeface="Times New Roman" panose="02020603050405020304" pitchFamily="18" charset="0"/>
              </a:rPr>
              <a:t>Mysuru</a:t>
            </a:r>
          </a:p>
        </p:txBody>
      </p:sp>
      <p:sp>
        <p:nvSpPr>
          <p:cNvPr id="12" name="Footer Placeholder 9">
            <a:extLst>
              <a:ext uri="{FF2B5EF4-FFF2-40B4-BE49-F238E27FC236}">
                <a16:creationId xmlns:a16="http://schemas.microsoft.com/office/drawing/2014/main" id="{265A8BCE-8665-2831-A3C1-692028DF7C90}"/>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185454C2-95D5-6186-D2E2-9503A84EDD8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0F8D09A-4C2E-4C52-E83F-B7C9192FF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198735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9A258136-51FA-60D7-9286-A3B46A7E26A2}"/>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BB47DFD7-ACA1-2988-52E3-2C7FF2F5B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C3EA4B2B-BF73-B242-D9CE-B6354204C4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13CE1E13-57BA-0A62-C0DF-3D315384E34A}"/>
              </a:ext>
            </a:extLst>
          </p:cNvPr>
          <p:cNvPicPr>
            <a:picLocks noChangeAspect="1"/>
          </p:cNvPicPr>
          <p:nvPr/>
        </p:nvPicPr>
        <p:blipFill>
          <a:blip r:embed="rId6"/>
          <a:stretch>
            <a:fillRect/>
          </a:stretch>
        </p:blipFill>
        <p:spPr>
          <a:xfrm>
            <a:off x="10902152" y="81675"/>
            <a:ext cx="1078152" cy="886089"/>
          </a:xfrm>
          <a:prstGeom prst="rect">
            <a:avLst/>
          </a:prstGeom>
        </p:spPr>
      </p:pic>
      <p:sp>
        <p:nvSpPr>
          <p:cNvPr id="2" name="Title 1">
            <a:extLst>
              <a:ext uri="{FF2B5EF4-FFF2-40B4-BE49-F238E27FC236}">
                <a16:creationId xmlns:a16="http://schemas.microsoft.com/office/drawing/2014/main" id="{0264FCEF-5CAF-35E8-AC95-14BF70512365}"/>
              </a:ext>
            </a:extLst>
          </p:cNvPr>
          <p:cNvSpPr>
            <a:spLocks noGrp="1"/>
          </p:cNvSpPr>
          <p:nvPr>
            <p:ph type="title"/>
          </p:nvPr>
        </p:nvSpPr>
        <p:spPr>
          <a:xfrm>
            <a:off x="2762794" y="52196"/>
            <a:ext cx="5518484" cy="569494"/>
          </a:xfrm>
        </p:spPr>
        <p:txBody>
          <a:bodyPr>
            <a:noAutofit/>
          </a:bodyPr>
          <a:lstStyle/>
          <a:p>
            <a:pPr algn="ctr"/>
            <a:br>
              <a:rPr lang="en-US" sz="3600" b="1" dirty="0">
                <a:solidFill>
                  <a:srgbClr val="C0108E"/>
                </a:solidFill>
                <a:latin typeface="Times New Roman" pitchFamily="18" charset="0"/>
                <a:cs typeface="Times New Roman" pitchFamily="18" charset="0"/>
              </a:rPr>
            </a:br>
            <a:endParaRPr lang="en-IN" sz="3200" b="1" dirty="0">
              <a:solidFill>
                <a:srgbClr val="7030A0"/>
              </a:solidFill>
            </a:endParaRPr>
          </a:p>
        </p:txBody>
      </p:sp>
      <p:pic>
        <p:nvPicPr>
          <p:cNvPr id="13" name="Picture 12">
            <a:extLst>
              <a:ext uri="{FF2B5EF4-FFF2-40B4-BE49-F238E27FC236}">
                <a16:creationId xmlns:a16="http://schemas.microsoft.com/office/drawing/2014/main" id="{18EC5E15-E090-D80E-D474-E5EB9730F293}"/>
              </a:ext>
            </a:extLst>
          </p:cNvPr>
          <p:cNvPicPr>
            <a:picLocks noChangeAspect="1"/>
          </p:cNvPicPr>
          <p:nvPr/>
        </p:nvPicPr>
        <p:blipFill>
          <a:blip r:embed="rId7"/>
          <a:stretch>
            <a:fillRect/>
          </a:stretch>
        </p:blipFill>
        <p:spPr>
          <a:xfrm>
            <a:off x="210094" y="104165"/>
            <a:ext cx="2552700" cy="952500"/>
          </a:xfrm>
          <a:prstGeom prst="rect">
            <a:avLst/>
          </a:prstGeom>
        </p:spPr>
      </p:pic>
    </p:spTree>
    <p:extLst>
      <p:ext uri="{BB962C8B-B14F-4D97-AF65-F5344CB8AC3E}">
        <p14:creationId xmlns:p14="http://schemas.microsoft.com/office/powerpoint/2010/main" val="103239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B62F8-FA5B-B845-221D-2AC822E6E05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BFCB100-47F5-1F9E-5DEA-99B85FC4AD9C}"/>
              </a:ext>
            </a:extLst>
          </p:cNvPr>
          <p:cNvSpPr/>
          <p:nvPr/>
        </p:nvSpPr>
        <p:spPr>
          <a:xfrm>
            <a:off x="0" y="6396075"/>
            <a:ext cx="1867437" cy="46192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ea typeface="Tahoma" panose="020B0604030504040204" pitchFamily="34" charset="0"/>
                <a:cs typeface="Times New Roman" panose="02020603050405020304" pitchFamily="18" charset="0"/>
              </a:rPr>
              <a:t>   </a:t>
            </a:r>
            <a:endParaRPr lang="en-US" sz="1600" dirty="0">
              <a:solidFill>
                <a:srgbClr val="FFC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8365B05F-C74C-B446-36EE-389215F2C3AF}"/>
              </a:ext>
            </a:extLst>
          </p:cNvPr>
          <p:cNvSpPr/>
          <p:nvPr/>
        </p:nvSpPr>
        <p:spPr>
          <a:xfrm>
            <a:off x="822960" y="6404315"/>
            <a:ext cx="3879668" cy="4619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ATME College of Engineering, </a:t>
            </a:r>
          </a:p>
          <a:p>
            <a:pPr algn="ctr"/>
            <a:r>
              <a:rPr lang="en-US" sz="1400" b="1" dirty="0" err="1">
                <a:solidFill>
                  <a:schemeClr val="tx1"/>
                </a:solidFill>
                <a:latin typeface="Times New Roman" panose="02020603050405020304" pitchFamily="18" charset="0"/>
                <a:cs typeface="Times New Roman" panose="02020603050405020304" pitchFamily="18" charset="0"/>
              </a:rPr>
              <a:t>Mysuru</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9">
            <a:extLst>
              <a:ext uri="{FF2B5EF4-FFF2-40B4-BE49-F238E27FC236}">
                <a16:creationId xmlns:a16="http://schemas.microsoft.com/office/drawing/2014/main" id="{5EE78EC8-B1B7-75B9-35F6-53492A0D59FA}"/>
              </a:ext>
            </a:extLst>
          </p:cNvPr>
          <p:cNvSpPr txBox="1">
            <a:spLocks/>
          </p:cNvSpPr>
          <p:nvPr/>
        </p:nvSpPr>
        <p:spPr>
          <a:xfrm>
            <a:off x="4036422" y="6396075"/>
            <a:ext cx="7214079" cy="470165"/>
          </a:xfrm>
          <a:prstGeom prst="rect">
            <a:avLst/>
          </a:prstGeom>
          <a:solidFill>
            <a:srgbClr val="002060"/>
          </a:solidFill>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1600" b="1" dirty="0">
                <a:solidFill>
                  <a:srgbClr val="FFC000"/>
                </a:solidFill>
                <a:latin typeface="Times New Roman" panose="02020603050405020304" pitchFamily="18" charset="0"/>
                <a:cs typeface="Times New Roman" panose="02020603050405020304" pitchFamily="18" charset="0"/>
              </a:rPr>
              <a:t>Department of CSE-DS, ATMECE</a:t>
            </a:r>
          </a:p>
        </p:txBody>
      </p:sp>
      <p:pic>
        <p:nvPicPr>
          <p:cNvPr id="4" name="Picture 3">
            <a:extLst>
              <a:ext uri="{FF2B5EF4-FFF2-40B4-BE49-F238E27FC236}">
                <a16:creationId xmlns:a16="http://schemas.microsoft.com/office/drawing/2014/main" id="{7283491A-56FF-2686-728A-352447C03D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70872" y="50502"/>
            <a:ext cx="1343489" cy="1006163"/>
          </a:xfrm>
          <a:prstGeom prst="rect">
            <a:avLst/>
          </a:prstGeom>
          <a:noFill/>
          <a:ln>
            <a:noFill/>
          </a:ln>
        </p:spPr>
      </p:pic>
      <p:pic>
        <p:nvPicPr>
          <p:cNvPr id="1026" name="Picture 1">
            <a:extLst>
              <a:ext uri="{FF2B5EF4-FFF2-40B4-BE49-F238E27FC236}">
                <a16:creationId xmlns:a16="http://schemas.microsoft.com/office/drawing/2014/main" id="{C95FD7C5-08B7-FB69-CA3D-31A3746500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64" t="9660" r="3165" b="11572"/>
          <a:stretch>
            <a:fillRect/>
          </a:stretch>
        </p:blipFill>
        <p:spPr bwMode="auto">
          <a:xfrm>
            <a:off x="214666" y="186715"/>
            <a:ext cx="2389187"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a:extLst>
              <a:ext uri="{FF2B5EF4-FFF2-40B4-BE49-F238E27FC236}">
                <a16:creationId xmlns:a16="http://schemas.microsoft.com/office/drawing/2014/main" id="{EF79FA5B-7266-C1BD-4F59-D4FE4296205D}"/>
              </a:ext>
            </a:extLst>
          </p:cNvPr>
          <p:cNvGrpSpPr>
            <a:grpSpLocks/>
          </p:cNvGrpSpPr>
          <p:nvPr/>
        </p:nvGrpSpPr>
        <p:grpSpPr bwMode="auto">
          <a:xfrm>
            <a:off x="9692114" y="186715"/>
            <a:ext cx="1114425" cy="781050"/>
            <a:chOff x="0" y="0"/>
            <a:chExt cx="1110192" cy="778933"/>
          </a:xfrm>
        </p:grpSpPr>
        <p:pic>
          <p:nvPicPr>
            <p:cNvPr id="8" name="Picture 2">
              <a:extLst>
                <a:ext uri="{FF2B5EF4-FFF2-40B4-BE49-F238E27FC236}">
                  <a16:creationId xmlns:a16="http://schemas.microsoft.com/office/drawing/2014/main" id="{8315529A-14B2-FFEA-2CC1-27BE286A5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10192" cy="77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aja-uk_iso-9001_2015">
              <a:extLst>
                <a:ext uri="{FF2B5EF4-FFF2-40B4-BE49-F238E27FC236}">
                  <a16:creationId xmlns:a16="http://schemas.microsoft.com/office/drawing/2014/main" id="{60528B5D-B6D2-94A5-7804-5B755B31534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49130" t="2490"/>
            <a:stretch>
              <a:fillRect/>
            </a:stretch>
          </p:blipFill>
          <p:spPr bwMode="auto">
            <a:xfrm>
              <a:off x="95250" y="116417"/>
              <a:ext cx="360527" cy="49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6" name="Picture 15">
            <a:extLst>
              <a:ext uri="{FF2B5EF4-FFF2-40B4-BE49-F238E27FC236}">
                <a16:creationId xmlns:a16="http://schemas.microsoft.com/office/drawing/2014/main" id="{5CF590B0-6075-9007-0E8E-FD836CE1D7F6}"/>
              </a:ext>
            </a:extLst>
          </p:cNvPr>
          <p:cNvPicPr>
            <a:picLocks noChangeAspect="1"/>
          </p:cNvPicPr>
          <p:nvPr/>
        </p:nvPicPr>
        <p:blipFill>
          <a:blip r:embed="rId6"/>
          <a:stretch>
            <a:fillRect/>
          </a:stretch>
        </p:blipFill>
        <p:spPr>
          <a:xfrm>
            <a:off x="10902152" y="81675"/>
            <a:ext cx="1078152" cy="886089"/>
          </a:xfrm>
          <a:prstGeom prst="rect">
            <a:avLst/>
          </a:prstGeom>
        </p:spPr>
      </p:pic>
      <p:sp>
        <p:nvSpPr>
          <p:cNvPr id="17" name="Content Placeholder 2">
            <a:extLst>
              <a:ext uri="{FF2B5EF4-FFF2-40B4-BE49-F238E27FC236}">
                <a16:creationId xmlns:a16="http://schemas.microsoft.com/office/drawing/2014/main" id="{A42AB506-6AF4-E3BD-5592-01135D685F17}"/>
              </a:ext>
            </a:extLst>
          </p:cNvPr>
          <p:cNvSpPr>
            <a:spLocks noGrp="1"/>
          </p:cNvSpPr>
          <p:nvPr/>
        </p:nvSpPr>
        <p:spPr>
          <a:xfrm>
            <a:off x="596102" y="1718181"/>
            <a:ext cx="10306050" cy="3927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dirty="0">
              <a:solidFill>
                <a:srgbClr val="002060"/>
              </a:solidFill>
            </a:endParaRPr>
          </a:p>
        </p:txBody>
      </p:sp>
      <p:sp>
        <p:nvSpPr>
          <p:cNvPr id="3" name="Title 2">
            <a:extLst>
              <a:ext uri="{FF2B5EF4-FFF2-40B4-BE49-F238E27FC236}">
                <a16:creationId xmlns:a16="http://schemas.microsoft.com/office/drawing/2014/main" id="{440C6DC2-CC32-4973-AD9F-C5C1BEF4DD2C}"/>
              </a:ext>
            </a:extLst>
          </p:cNvPr>
          <p:cNvSpPr>
            <a:spLocks noGrp="1"/>
          </p:cNvSpPr>
          <p:nvPr>
            <p:ph type="ctrTitle"/>
          </p:nvPr>
        </p:nvSpPr>
        <p:spPr/>
        <p:txBody>
          <a:bodyPr>
            <a:normAutofit/>
          </a:bodyPr>
          <a:lstStyle/>
          <a:p>
            <a:r>
              <a:rPr lang="en-US" sz="8800" b="1" dirty="0">
                <a:latin typeface="Algerian" panose="04020705040A02060702" pitchFamily="82" charset="0"/>
              </a:rPr>
              <a:t>THANK YOU</a:t>
            </a:r>
          </a:p>
        </p:txBody>
      </p:sp>
    </p:spTree>
    <p:extLst>
      <p:ext uri="{BB962C8B-B14F-4D97-AF65-F5344CB8AC3E}">
        <p14:creationId xmlns:p14="http://schemas.microsoft.com/office/powerpoint/2010/main" val="3271480363"/>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Research Publication</a:t>
            </a:r>
          </a:p>
        </p:txBody>
      </p:sp>
      <p:sp>
        <p:nvSpPr>
          <p:cNvPr id="3" name="TextBox 2"/>
          <p:cNvSpPr txBox="1"/>
          <p:nvPr/>
        </p:nvSpPr>
        <p:spPr>
          <a:xfrm>
            <a:off x="914400" y="1371600"/>
            <a:ext cx="7315200" cy="3657600"/>
          </a:xfrm>
          <a:prstGeom prst="rect">
            <a:avLst/>
          </a:prstGeom>
          <a:noFill/>
        </p:spPr>
        <p:txBody>
          <a:bodyPr wrap="none">
            <a:spAutoFit/>
          </a:bodyPr>
          <a:lstStyle/>
          <a:p/>
          <a:p>
            <a:pPr>
              <a:defRPr sz="1800"/>
            </a:pPr>
            <a:r>
              <a:t>📖 Title: A Review on RAG-Based Student Assistant Chatbot using LangChain</a:t>
            </a:r>
          </a:p>
          <a:p>
            <a:pPr>
              <a:defRPr sz="1800"/>
            </a:pPr>
            <a:r>
              <a:t>👨‍💻 Authors: Dharshan S, Puneeth K S, Sanjay G J, Vivek V, Dr. Anitha D B</a:t>
            </a:r>
          </a:p>
          <a:p>
            <a:pPr>
              <a:defRPr sz="1800"/>
            </a:pPr>
            <a:r>
              <a:t>📰 Journal: EPRA International Journal of Research and Development (IJRD)</a:t>
            </a:r>
          </a:p>
          <a:p>
            <a:pPr>
              <a:defRPr sz="1800"/>
            </a:pPr>
            <a:r>
              <a:t>📅 Volume 10 | Issue 8 | August 2025</a:t>
            </a:r>
          </a:p>
          <a:p>
            <a:pPr>
              <a:defRPr sz="1800"/>
            </a:pPr>
            <a:r>
              <a:t>🔗 DOI: https://doi.org/10.36713/epra23698</a:t>
            </a:r>
          </a:p>
          <a:p>
            <a:pPr>
              <a:defRPr sz="1800"/>
            </a:pPr>
            <a:r>
              <a:t>⭐ SJIF Impact Factor (2025): 8.688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Achievements</a:t>
            </a:r>
          </a:p>
        </p:txBody>
      </p:sp>
      <p:sp>
        <p:nvSpPr>
          <p:cNvPr id="3" name="TextBox 2"/>
          <p:cNvSpPr txBox="1"/>
          <p:nvPr/>
        </p:nvSpPr>
        <p:spPr>
          <a:xfrm>
            <a:off x="914400" y="1828800"/>
            <a:ext cx="7315200" cy="2743200"/>
          </a:xfrm>
          <a:prstGeom prst="rect">
            <a:avLst/>
          </a:prstGeom>
          <a:noFill/>
        </p:spPr>
        <p:txBody>
          <a:bodyPr wrap="none">
            <a:spAutoFit/>
          </a:bodyPr>
          <a:lstStyle/>
          <a:p/>
          <a:p>
            <a:pPr>
              <a:defRPr sz="2200"/>
            </a:pPr>
            <a:r>
              <a:t>✅ Successfully published our review paper in a peer-reviewed, indexed international journal.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1231</TotalTime>
  <Words>2287</Words>
  <Application>Microsoft Office PowerPoint</Application>
  <PresentationFormat>Widescreen</PresentationFormat>
  <Paragraphs>248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Algerian</vt:lpstr>
      <vt:lpstr>Arial</vt:lpstr>
      <vt:lpstr>Calibri</vt:lpstr>
      <vt:lpstr>Calibri Light</vt:lpstr>
      <vt:lpstr>Times New Roman</vt:lpstr>
      <vt:lpstr>Office Theme</vt:lpstr>
      <vt:lpstr>      Presented By,      Dharshan S [4AD22CD013]      Puneeth K S [4AD22CD035]      Sanjay G J [4AD22CD042]                                                               Vivek V [4AD22CD057]                                                                                                               </vt:lpstr>
      <vt:lpstr> CONTENTS </vt:lpstr>
      <vt:lpstr> INTRODUCTION</vt:lpstr>
      <vt:lpstr> PROBLEM STATEMENT </vt:lpstr>
      <vt:lpstr> LITERATURE SURVEY</vt:lpstr>
      <vt:lpstr> LITERATURE SURVEY</vt:lpstr>
      <vt:lpstr> LITERATURE SURVEY</vt:lpstr>
      <vt:lpstr> LITERATURE SURVEY</vt:lpstr>
      <vt:lpstr>  LITERATURE SURVEY</vt:lpstr>
      <vt:lpstr> Recap of Phase -1 work done </vt:lpstr>
      <vt:lpstr> Recap of Phase -1 work done </vt:lpstr>
      <vt:lpstr> </vt:lpstr>
      <vt:lpstr> SYSTEM ARCHITECTURE</vt:lpstr>
      <vt:lpstr>EXPECTED OUTCOMES</vt:lpstr>
      <vt:lpstr>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members name with USN                                                                                                                   Project Guide name with designation</dc:title>
  <dc:creator>ANITHA D B</dc:creator>
  <cp:lastModifiedBy>VIVEK V</cp:lastModifiedBy>
  <cp:revision>64</cp:revision>
  <dcterms:created xsi:type="dcterms:W3CDTF">2024-10-08T07:43:06Z</dcterms:created>
  <dcterms:modified xsi:type="dcterms:W3CDTF">2025-09-13T07:19:05Z</dcterms:modified>
</cp:coreProperties>
</file>